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18"/>
  </p:notesMasterIdLst>
  <p:handoutMasterIdLst>
    <p:handoutMasterId r:id="rId19"/>
  </p:handoutMasterIdLst>
  <p:sldIdLst>
    <p:sldId id="338" r:id="rId3"/>
    <p:sldId id="322" r:id="rId4"/>
    <p:sldId id="351" r:id="rId5"/>
    <p:sldId id="357" r:id="rId6"/>
    <p:sldId id="350" r:id="rId7"/>
    <p:sldId id="359" r:id="rId8"/>
    <p:sldId id="360" r:id="rId9"/>
    <p:sldId id="361" r:id="rId10"/>
    <p:sldId id="353" r:id="rId11"/>
    <p:sldId id="354" r:id="rId12"/>
    <p:sldId id="358" r:id="rId13"/>
    <p:sldId id="355" r:id="rId14"/>
    <p:sldId id="356" r:id="rId15"/>
    <p:sldId id="362" r:id="rId16"/>
    <p:sldId id="332" r:id="rId17"/>
  </p:sldIdLst>
  <p:sldSz cx="12192000" cy="6858000"/>
  <p:notesSz cx="7102475" cy="9037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58"/>
    <p:restoredTop sz="95833"/>
  </p:normalViewPr>
  <p:slideViewPr>
    <p:cSldViewPr snapToGrid="0" snapToObjects="1">
      <p:cViewPr varScale="1">
        <p:scale>
          <a:sx n="106" d="100"/>
          <a:sy n="106" d="100"/>
        </p:scale>
        <p:origin x="72" y="64"/>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53451"/>
          </a:xfrm>
          <a:prstGeom prst="rect">
            <a:avLst/>
          </a:prstGeom>
        </p:spPr>
        <p:txBody>
          <a:bodyPr vert="horz" lIns="91440" tIns="45720" rIns="91440" bIns="45720" rtlCol="0"/>
          <a:lstStyle>
            <a:lvl1pPr algn="r">
              <a:defRPr sz="1200"/>
            </a:lvl1pPr>
          </a:lstStyle>
          <a:p>
            <a:fld id="{469F6064-4237-BA4C-A655-B64A9E0DF723}" type="datetimeFigureOut">
              <a:rPr lang="en-US" smtClean="0"/>
              <a:t>9/9/2026</a:t>
            </a:fld>
            <a:endParaRPr lang="en-US"/>
          </a:p>
        </p:txBody>
      </p:sp>
      <p:sp>
        <p:nvSpPr>
          <p:cNvPr id="4" name="Footer Placeholder 3"/>
          <p:cNvSpPr>
            <a:spLocks noGrp="1"/>
          </p:cNvSpPr>
          <p:nvPr>
            <p:ph type="ftr" sz="quarter" idx="2"/>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584188"/>
            <a:ext cx="3077739" cy="453450"/>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p:cNvPicPr>
            <a:picLocks noChangeAspect="1"/>
          </p:cNvPicPr>
          <p:nvPr/>
        </p:nvPicPr>
        <p:blipFill>
          <a:blip r:embed="rId2"/>
          <a:stretch>
            <a:fillRect/>
          </a:stretch>
        </p:blipFill>
        <p:spPr>
          <a:xfrm>
            <a:off x="0" y="0"/>
            <a:ext cx="1156171" cy="453451"/>
          </a:xfrm>
          <a:prstGeom prst="rect">
            <a:avLst/>
          </a:prstGeom>
        </p:spPr>
      </p:pic>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9/9/2026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09-09-2026</a:t>
            </a:fld>
            <a:endParaRPr lang="en-US"/>
          </a:p>
        </p:txBody>
      </p:sp>
      <p:sp>
        <p:nvSpPr>
          <p:cNvPr id="5" name="Footer Placeholder 4"/>
          <p:cNvSpPr>
            <a:spLocks noGrp="1"/>
          </p:cNvSpPr>
          <p:nvPr>
            <p:ph type="ftr" sz="quarter" idx="11"/>
          </p:nvPr>
        </p:nvSpPr>
        <p:spPr/>
        <p:txBody>
          <a:bodyPr/>
          <a:lstStyle/>
          <a:p>
            <a:r>
              <a:rPr lang="en-US" dirty="0"/>
              <a:t>REVIEW – 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09-09-2026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09-09-2026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09-09-2026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09-09-2026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09-09-2026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09-09-2026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09-09-2026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09-09-2026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09-09-2026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REVIEW – 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09-09-2026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319609" y="595713"/>
            <a:ext cx="10515600" cy="1100826"/>
          </a:xfrm>
        </p:spPr>
        <p:txBody>
          <a:bodyPr>
            <a:noAutofit/>
          </a:bodyPr>
          <a:lstStyle/>
          <a:p>
            <a:pPr algn="ctr">
              <a:lnSpc>
                <a:spcPct val="100000"/>
              </a:lnSpc>
            </a:pPr>
            <a:r>
              <a:rPr lang="da-DK" sz="2400" b="1" dirty="0">
                <a:solidFill>
                  <a:srgbClr val="FF0000"/>
                </a:solidFill>
                <a:latin typeface="Times New Roman" panose="02020603050405020304" pitchFamily="18" charset="0"/>
                <a:cs typeface="Times New Roman" panose="02020603050405020304" pitchFamily="18" charset="0"/>
              </a:rPr>
              <a:t>ENGINEERING CAPSTONE PROJECT – 1/INDUSTRIAL INTERNSHIP/ INDUSTRIAL INTERNSHIP PHASE-I</a:t>
            </a:r>
            <a:br>
              <a:rPr lang="da-DK" sz="2400" b="1" dirty="0">
                <a:latin typeface="Times New Roman" panose="02020603050405020304" pitchFamily="18" charset="0"/>
                <a:cs typeface="Times New Roman" panose="02020603050405020304" pitchFamily="18" charset="0"/>
              </a:rPr>
            </a:br>
            <a:r>
              <a:rPr lang="da-DK" sz="2400" b="1" dirty="0">
                <a:solidFill>
                  <a:srgbClr val="0070C0"/>
                </a:solidFill>
                <a:latin typeface="Times New Roman" panose="02020603050405020304" pitchFamily="18" charset="0"/>
                <a:cs typeface="Times New Roman" panose="02020603050405020304" pitchFamily="18" charset="0"/>
              </a:rPr>
              <a:t>Project Review-1</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INTELLIGENT SUPPLIER RISK PREDICTION AND ANALYTICS USING</a:t>
            </a:r>
            <a:br>
              <a:rPr lang="en-US" sz="2400" b="1" dirty="0">
                <a:solidFill>
                  <a:schemeClr val="accent6"/>
                </a:solidFill>
                <a:latin typeface="Times New Roman" panose="02020603050405020304" pitchFamily="18" charset="0"/>
                <a:cs typeface="Times New Roman" panose="02020603050405020304" pitchFamily="18" charset="0"/>
              </a:rPr>
            </a:br>
            <a:r>
              <a:rPr lang="en-US" sz="2400" b="1" dirty="0">
                <a:solidFill>
                  <a:schemeClr val="accent6"/>
                </a:solidFill>
                <a:latin typeface="Times New Roman" panose="02020603050405020304" pitchFamily="18" charset="0"/>
                <a:cs typeface="Times New Roman" panose="02020603050405020304" pitchFamily="18" charset="0"/>
              </a:rPr>
              <a:t>DATA SCIENCE AND AZURE</a:t>
            </a:r>
          </a:p>
        </p:txBody>
      </p:sp>
      <p:sp>
        <p:nvSpPr>
          <p:cNvPr id="3" name="Content Placeholder 2"/>
          <p:cNvSpPr>
            <a:spLocks noGrp="1"/>
          </p:cNvSpPr>
          <p:nvPr>
            <p:ph sz="half" idx="1"/>
          </p:nvPr>
        </p:nvSpPr>
        <p:spPr>
          <a:xfrm>
            <a:off x="1112247" y="2265079"/>
            <a:ext cx="10515600" cy="1523094"/>
          </a:xfrm>
        </p:spPr>
        <p:txBody>
          <a:bodyPr>
            <a:noAutofit/>
          </a:bodyPr>
          <a:lstStyle/>
          <a:p>
            <a:pPr marL="0" indent="0" algn="ctr">
              <a:buNone/>
            </a:pPr>
            <a:r>
              <a:rPr lang="en-IN" sz="2000" b="1" dirty="0">
                <a:latin typeface="Times New Roman" panose="02020603050405020304" pitchFamily="18" charset="0"/>
                <a:cs typeface="Times New Roman" panose="02020603050405020304" pitchFamily="18" charset="0"/>
              </a:rPr>
              <a:t>Team Nob - DSBDA5</a:t>
            </a:r>
          </a:p>
          <a:p>
            <a:pPr marL="0" indent="0" algn="ctr">
              <a:buNone/>
            </a:pPr>
            <a:r>
              <a:rPr lang="en-IN" sz="2000" b="1" dirty="0">
                <a:latin typeface="Times New Roman" panose="02020603050405020304" pitchFamily="18" charset="0"/>
                <a:cs typeface="Times New Roman" panose="02020603050405020304" pitchFamily="18" charset="0"/>
              </a:rPr>
              <a:t>Roll No - </a:t>
            </a:r>
            <a:r>
              <a:rPr lang="en-IN" sz="2000" dirty="0">
                <a:latin typeface="Times New Roman" panose="02020603050405020304" pitchFamily="18" charset="0"/>
                <a:cs typeface="Times New Roman" panose="02020603050405020304" pitchFamily="18" charset="0"/>
              </a:rPr>
              <a:t>2320030092 </a:t>
            </a:r>
            <a:r>
              <a:rPr lang="en-IN" sz="2000" b="1" dirty="0">
                <a:latin typeface="Times New Roman" panose="02020603050405020304" pitchFamily="18" charset="0"/>
                <a:cs typeface="Times New Roman" panose="02020603050405020304" pitchFamily="18" charset="0"/>
              </a:rPr>
              <a:t> 		Name - </a:t>
            </a:r>
            <a:r>
              <a:rPr lang="en-IN" sz="2000" dirty="0">
                <a:latin typeface="Times New Roman" panose="02020603050405020304" pitchFamily="18" charset="0"/>
                <a:cs typeface="Times New Roman" panose="02020603050405020304" pitchFamily="18" charset="0"/>
              </a:rPr>
              <a:t>GULLAPALLI SHEETAL</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Roll No - </a:t>
            </a:r>
            <a:r>
              <a:rPr lang="en-IN" sz="2000" dirty="0">
                <a:latin typeface="Times New Roman" panose="02020603050405020304" pitchFamily="18" charset="0"/>
                <a:cs typeface="Times New Roman" panose="02020603050405020304" pitchFamily="18" charset="0"/>
              </a:rPr>
              <a:t>2320030098 </a:t>
            </a:r>
            <a:r>
              <a:rPr lang="en-IN" sz="2000" b="1" dirty="0">
                <a:latin typeface="Times New Roman" panose="02020603050405020304" pitchFamily="18" charset="0"/>
                <a:cs typeface="Times New Roman" panose="02020603050405020304" pitchFamily="18" charset="0"/>
              </a:rPr>
              <a:t> 		Name - </a:t>
            </a:r>
            <a:r>
              <a:rPr lang="en-IN" sz="2000" dirty="0">
                <a:latin typeface="Times New Roman" panose="02020603050405020304" pitchFamily="18" charset="0"/>
                <a:cs typeface="Times New Roman" panose="02020603050405020304" pitchFamily="18" charset="0"/>
              </a:rPr>
              <a:t>JANGARI SAKSHITHA</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Roll No - </a:t>
            </a:r>
            <a:r>
              <a:rPr lang="en-IN" sz="2000" dirty="0">
                <a:latin typeface="Times New Roman" panose="02020603050405020304" pitchFamily="18" charset="0"/>
                <a:cs typeface="Times New Roman" panose="02020603050405020304" pitchFamily="18" charset="0"/>
              </a:rPr>
              <a:t>2320030102 </a:t>
            </a:r>
            <a:r>
              <a:rPr lang="en-IN" sz="2000" b="1" dirty="0">
                <a:latin typeface="Times New Roman" panose="02020603050405020304" pitchFamily="18" charset="0"/>
                <a:cs typeface="Times New Roman" panose="02020603050405020304" pitchFamily="18" charset="0"/>
              </a:rPr>
              <a:t> 		Name – </a:t>
            </a:r>
            <a:r>
              <a:rPr lang="en-IN" sz="2000" dirty="0">
                <a:latin typeface="Times New Roman" panose="02020603050405020304" pitchFamily="18" charset="0"/>
                <a:cs typeface="Times New Roman" panose="02020603050405020304" pitchFamily="18" charset="0"/>
              </a:rPr>
              <a:t>GULLAPALLI NIKITHA CHOWDARY</a:t>
            </a: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2000" b="1" dirty="0">
              <a:latin typeface="Times New Roman" panose="02020603050405020304" pitchFamily="18" charset="0"/>
              <a:cs typeface="Times New Roman" panose="02020603050405020304" pitchFamily="18" charset="0"/>
            </a:endParaRPr>
          </a:p>
          <a:p>
            <a:pPr marL="0" indent="0" algn="ctr">
              <a:buNone/>
            </a:pPr>
            <a:endParaRPr lang="en-US" sz="14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437923A7-D8E7-1742-AE5C-E3C19725FB52}" type="datetime1">
              <a:rPr lang="en-IN" smtClean="0"/>
              <a:t>09-09-2026</a:t>
            </a:fld>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7" y="3362634"/>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Under the Guidance of</a:t>
            </a: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Dr N Sirisha</a:t>
            </a:r>
            <a:br>
              <a:rPr lang="en-US" sz="2400" dirty="0">
                <a:solidFill>
                  <a:srgbClr val="00B050"/>
                </a:solidFill>
                <a:latin typeface="Times New Roman" panose="02020603050405020304" pitchFamily="18" charset="0"/>
                <a:cs typeface="Times New Roman" panose="02020603050405020304" pitchFamily="18" charset="0"/>
              </a:rPr>
            </a:br>
            <a:r>
              <a:rPr lang="en-US" sz="2400" dirty="0">
                <a:solidFill>
                  <a:srgbClr val="00B050"/>
                </a:solidFill>
                <a:latin typeface="Times New Roman" panose="02020603050405020304" pitchFamily="18" charset="0"/>
                <a:cs typeface="Times New Roman" panose="02020603050405020304" pitchFamily="18" charset="0"/>
              </a:rPr>
              <a:t>Associate Professor</a:t>
            </a:r>
          </a:p>
          <a:p>
            <a:pPr marL="0" indent="0" algn="ctr">
              <a:buNone/>
            </a:pPr>
            <a:r>
              <a:rPr lang="en-US" sz="2400" dirty="0">
                <a:solidFill>
                  <a:srgbClr val="00B050"/>
                </a:solidFill>
                <a:latin typeface="Times New Roman" panose="02020603050405020304" pitchFamily="18" charset="0"/>
                <a:cs typeface="Times New Roman" panose="02020603050405020304" pitchFamily="18" charset="0"/>
              </a:rPr>
              <a:t>Department of Computer Science and Engineering</a:t>
            </a:r>
          </a:p>
          <a:p>
            <a:pPr marL="0" indent="0">
              <a:buFont typeface="Arial" panose="020B0604020202020204" pitchFamily="34" charset="0"/>
              <a:buNone/>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2395" y="5136862"/>
            <a:ext cx="2175809" cy="897941"/>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p:cNvSpPr>
            <a:spLocks noGrp="1"/>
          </p:cNvSpPr>
          <p:nvPr>
            <p:ph idx="1"/>
          </p:nvPr>
        </p:nvSpPr>
        <p:spPr>
          <a:xfrm>
            <a:off x="838200" y="1250731"/>
            <a:ext cx="10515600" cy="5002923"/>
          </a:xfrm>
        </p:spPr>
        <p:txBody>
          <a:bodyPr>
            <a:normAutofit/>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Literature Survey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Research Gap Identification</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Innovation, Creativity, and Novelty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Feasibility and Project Plan</a:t>
            </a: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196CB346-A29B-614A-90B7-3F58220E4132}" type="datetime1">
              <a:rPr lang="en-IN" smtClean="0"/>
              <a:t>09-09-2026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PRC-I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3206415" y="4178"/>
            <a:ext cx="4946985" cy="1128009"/>
          </a:xfrm>
        </p:spPr>
        <p:txBody>
          <a:bodyPr>
            <a:normAutofit/>
          </a:bodyPr>
          <a:lstStyle/>
          <a:p>
            <a:pPr algn="ctr"/>
            <a:r>
              <a:rPr lang="en-IN" sz="2800" b="1" dirty="0">
                <a:latin typeface="Times New Roman" panose="02020603050405020304" pitchFamily="18" charset="0"/>
                <a:cs typeface="Times New Roman" panose="02020603050405020304" pitchFamily="18" charset="0"/>
              </a:rPr>
              <a:t>Introduction</a:t>
            </a:r>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1260158"/>
            <a:ext cx="10515600" cy="5002923"/>
          </a:xfrm>
        </p:spPr>
        <p:txBody>
          <a:bodyPr>
            <a:normAutofit/>
          </a:bodyPr>
          <a:lstStyle/>
          <a:p>
            <a:r>
              <a:rPr lang="en-US" sz="1400" b="1" dirty="0">
                <a:latin typeface="Times New Roman" panose="02020603050405020304" pitchFamily="18" charset="0"/>
                <a:cs typeface="Times New Roman" panose="02020603050405020304" pitchFamily="18" charset="0"/>
              </a:rPr>
              <a:t>Background:</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Modern supply chains rely heavily on suppliers, but disruptions caused by financial instability, production delays, operational issues, and negative business events can affect business continuity. Traditional supplier assessments are mostly historical and periodic, making early risk detection difficult.</a:t>
            </a:r>
          </a:p>
          <a:p>
            <a:r>
              <a:rPr lang="en-US" sz="1400" b="1" dirty="0">
                <a:latin typeface="Times New Roman" panose="02020603050405020304" pitchFamily="18" charset="0"/>
                <a:cs typeface="Times New Roman" panose="02020603050405020304" pitchFamily="18" charset="0"/>
              </a:rPr>
              <a:t>Problem:</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Organizations lack a proactive method to identify suppliers likely to face disruption before it happens.</a:t>
            </a:r>
          </a:p>
          <a:p>
            <a:r>
              <a:rPr lang="en-US" sz="1400" b="1" dirty="0">
                <a:latin typeface="Times New Roman" panose="02020603050405020304" pitchFamily="18" charset="0"/>
                <a:cs typeface="Times New Roman" panose="02020603050405020304" pitchFamily="18" charset="0"/>
              </a:rPr>
              <a:t>Importance:</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Predicts supplier disruption risk up to 90 days in advance </a:t>
            </a:r>
          </a:p>
          <a:p>
            <a:r>
              <a:rPr lang="en-US" sz="1400" dirty="0">
                <a:latin typeface="Times New Roman" panose="02020603050405020304" pitchFamily="18" charset="0"/>
                <a:cs typeface="Times New Roman" panose="02020603050405020304" pitchFamily="18" charset="0"/>
              </a:rPr>
              <a:t>Combines financial indicators and business-news sentiment </a:t>
            </a:r>
          </a:p>
          <a:p>
            <a:r>
              <a:rPr lang="en-US" sz="1400" dirty="0">
                <a:latin typeface="Times New Roman" panose="02020603050405020304" pitchFamily="18" charset="0"/>
                <a:cs typeface="Times New Roman" panose="02020603050405020304" pitchFamily="18" charset="0"/>
              </a:rPr>
              <a:t>Classifies suppliers as Low, Medium, or High Risk </a:t>
            </a:r>
          </a:p>
          <a:p>
            <a:r>
              <a:rPr lang="en-US" sz="1400" dirty="0">
                <a:latin typeface="Times New Roman" panose="02020603050405020304" pitchFamily="18" charset="0"/>
                <a:cs typeface="Times New Roman" panose="02020603050405020304" pitchFamily="18" charset="0"/>
              </a:rPr>
              <a:t>Enables early warning and preventive decision-making </a:t>
            </a:r>
          </a:p>
          <a:p>
            <a:r>
              <a:rPr lang="en-US" sz="1400" b="1" dirty="0">
                <a:latin typeface="Times New Roman" panose="02020603050405020304" pitchFamily="18" charset="0"/>
                <a:cs typeface="Times New Roman" panose="02020603050405020304" pitchFamily="18" charset="0"/>
              </a:rPr>
              <a:t>Applications: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Supplier Selection • Procurement Planning • Risk Monitoring • Alternative Supplier Identification • Contingency Planning • Supply Chain Resilience</a:t>
            </a:r>
          </a:p>
          <a:p>
            <a:endParaRPr lang="en-US" sz="14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endParaRPr lang="en-US" dirty="0"/>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3C34A4E9-B1D7-4F59-982A-7518E00546D4}"/>
              </a:ext>
            </a:extLst>
          </p:cNvPr>
          <p:cNvSpPr>
            <a:spLocks noGrp="1"/>
          </p:cNvSpPr>
          <p:nvPr>
            <p:ph type="ftr" sz="quarter" idx="11"/>
          </p:nvPr>
        </p:nvSpPr>
        <p:spPr>
          <a:xfrm>
            <a:off x="4038600" y="6356350"/>
            <a:ext cx="4114800" cy="365125"/>
          </a:xfrm>
        </p:spPr>
        <p:txBody>
          <a:bodyPr/>
          <a:lstStyle/>
          <a:p>
            <a:endParaRPr lang="en-US" dirty="0"/>
          </a:p>
        </p:txBody>
      </p:sp>
    </p:spTree>
    <p:extLst>
      <p:ext uri="{BB962C8B-B14F-4D97-AF65-F5344CB8AC3E}">
        <p14:creationId xmlns:p14="http://schemas.microsoft.com/office/powerpoint/2010/main" val="201159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24174-E81B-4768-8B99-C41881EF5EA4}"/>
              </a:ext>
            </a:extLst>
          </p:cNvPr>
          <p:cNvSpPr>
            <a:spLocks noGrp="1"/>
          </p:cNvSpPr>
          <p:nvPr>
            <p:ph type="title"/>
          </p:nvPr>
        </p:nvSpPr>
        <p:spPr/>
        <p:txBody>
          <a:bodyPr>
            <a:normAutofit/>
          </a:bodyPr>
          <a:lstStyle/>
          <a:p>
            <a:pPr algn="ctr"/>
            <a:r>
              <a:rPr lang="en-US" sz="2400" b="1" dirty="0">
                <a:latin typeface="Times New Roman" panose="02020603050405020304" pitchFamily="18" charset="0"/>
                <a:cs typeface="Times New Roman" panose="02020603050405020304" pitchFamily="18" charset="0"/>
              </a:rPr>
              <a:t>Problem Statement</a:t>
            </a:r>
            <a:endParaRPr lang="en-IN" sz="2400" b="1" dirty="0"/>
          </a:p>
        </p:txBody>
      </p:sp>
      <p:sp>
        <p:nvSpPr>
          <p:cNvPr id="3" name="Content Placeholder 2">
            <a:extLst>
              <a:ext uri="{FF2B5EF4-FFF2-40B4-BE49-F238E27FC236}">
                <a16:creationId xmlns:a16="http://schemas.microsoft.com/office/drawing/2014/main" id="{54E84203-8F93-4071-A37C-6A9C3BB16CA1}"/>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Existing supplier risk assessment methods mainly rely on historical financial reports and periodic evaluations, making them reactive rather than proactive in identifying potential supplier disruptions. Previous studies often focus on either financial risk analysis or news sentiment analysis separately, with limited integration of both data sources to capture rapidly changing supplier conditions. As a result, organizations may fail to detect early warning signs of financial instability, operational issues, or negative business events. Therefore, there is a need for an AI-based supplier risk prediction system that combines financial indicators and business news sentiment to predict potential supplier disruptions up to 90 days in advance, enabling organizations to make timely and informed supply chain decisions.</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D185FB1-B28D-4C1B-A7FA-1B6AE4E26B08}"/>
              </a:ext>
            </a:extLst>
          </p:cNvPr>
          <p:cNvSpPr>
            <a:spLocks noGrp="1"/>
          </p:cNvSpPr>
          <p:nvPr>
            <p:ph type="dt" sz="half" idx="10"/>
          </p:nvPr>
        </p:nvSpPr>
        <p:spPr>
          <a:xfrm>
            <a:off x="838200" y="6365777"/>
            <a:ext cx="2743200" cy="365125"/>
          </a:xfrm>
        </p:spPr>
        <p:txBody>
          <a:bodyPr/>
          <a:lstStyle/>
          <a:p>
            <a:fld id="{C7A4DE8B-8D6B-8C46-B882-6A2CD2BC96F0}" type="datetime1">
              <a:rPr lang="en-IN" smtClean="0"/>
              <a:t>09-09-2026</a:t>
            </a:fld>
            <a:endParaRPr lang="en-US"/>
          </a:p>
        </p:txBody>
      </p:sp>
      <p:sp>
        <p:nvSpPr>
          <p:cNvPr id="6" name="Slide Number Placeholder 5">
            <a:extLst>
              <a:ext uri="{FF2B5EF4-FFF2-40B4-BE49-F238E27FC236}">
                <a16:creationId xmlns:a16="http://schemas.microsoft.com/office/drawing/2014/main" id="{52C09634-64A3-451F-B3E1-F9F54FC12B45}"/>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7" name="Footer Placeholder 2">
            <a:extLst>
              <a:ext uri="{FF2B5EF4-FFF2-40B4-BE49-F238E27FC236}">
                <a16:creationId xmlns:a16="http://schemas.microsoft.com/office/drawing/2014/main" id="{D9CC9555-106F-46B4-BA3D-25EA6B87723C}"/>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1103198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237610" y="433708"/>
            <a:ext cx="10116190" cy="1059426"/>
          </a:xfrm>
        </p:spPr>
        <p:txBody>
          <a:bodyPr>
            <a:normAutofit/>
          </a:bodyPr>
          <a:lstStyle/>
          <a:p>
            <a:pPr algn="ctr"/>
            <a:r>
              <a:rPr lang="en-IN" sz="2400" b="1" dirty="0">
                <a:latin typeface="Times New Roman" panose="02020603050405020304" pitchFamily="18" charset="0"/>
                <a:cs typeface="Times New Roman" panose="02020603050405020304" pitchFamily="18" charset="0"/>
              </a:rPr>
              <a:t>Objectives</a:t>
            </a:r>
            <a:r>
              <a:rPr lang="en-IN" sz="2400" dirty="0">
                <a:latin typeface="Times New Roman" panose="02020603050405020304" pitchFamily="18" charset="0"/>
                <a:cs typeface="Times New Roman" panose="02020603050405020304" pitchFamily="18" charset="0"/>
              </a:rPr>
              <a:t> </a:t>
            </a:r>
          </a:p>
        </p:txBody>
      </p:sp>
      <p:pic>
        <p:nvPicPr>
          <p:cNvPr id="3" name="Content Placeholder 2"/>
          <p:cNvPicPr>
            <a:picLocks noGrp="1" noChangeAspect="1"/>
          </p:cNvPicPr>
          <p:nvPr>
            <p:ph idx="1"/>
          </p:nvPr>
        </p:nvPicPr>
        <p:blipFill>
          <a:blip r:embed="rId2"/>
          <a:stretch>
            <a:fillRect/>
          </a:stretch>
        </p:blipFill>
        <p:spPr>
          <a:xfrm>
            <a:off x="896352" y="1213381"/>
            <a:ext cx="10322345" cy="5039782"/>
          </a:xfrm>
          <a:prstGeom prst="rect">
            <a:avLst/>
          </a:prstGeom>
        </p:spPr>
      </p:pic>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a:xfrm>
            <a:off x="853568" y="6378550"/>
            <a:ext cx="2727832" cy="342925"/>
          </a:xfrm>
        </p:spPr>
        <p:txBody>
          <a:bodyPr/>
          <a:lstStyle/>
          <a:p>
            <a:fld id="{196CB346-A29B-614A-90B7-3F58220E4132}" type="datetime1">
              <a:rPr lang="en-IN" smtClean="0"/>
              <a:t>09-09-2026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a:xfrm>
            <a:off x="8625968" y="6378550"/>
            <a:ext cx="2727832" cy="342925"/>
          </a:xfrm>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3"/>
          <a:stretch>
            <a:fillRect/>
          </a:stretch>
        </p:blipFill>
        <p:spPr>
          <a:xfrm>
            <a:off x="8171" y="3474"/>
            <a:ext cx="1450313" cy="686991"/>
          </a:xfrm>
          <a:prstGeom prst="rect">
            <a:avLst/>
          </a:prstGeom>
        </p:spPr>
      </p:pic>
      <p:sp>
        <p:nvSpPr>
          <p:cNvPr id="11" name="Footer Placeholder 2">
            <a:extLst>
              <a:ext uri="{FF2B5EF4-FFF2-40B4-BE49-F238E27FC236}">
                <a16:creationId xmlns:a16="http://schemas.microsoft.com/office/drawing/2014/main" id="{53D0FDF3-DB89-46A2-B389-76810F8CAAF1}"/>
              </a:ext>
            </a:extLst>
          </p:cNvPr>
          <p:cNvSpPr>
            <a:spLocks noGrp="1"/>
          </p:cNvSpPr>
          <p:nvPr>
            <p:ph type="ftr" sz="quarter" idx="11"/>
          </p:nvPr>
        </p:nvSpPr>
        <p:spPr>
          <a:xfrm>
            <a:off x="4061652" y="6378550"/>
            <a:ext cx="4091748" cy="342925"/>
          </a:xfrm>
        </p:spPr>
        <p:txBody>
          <a:bodyPr/>
          <a:lstStyle/>
          <a:p>
            <a:r>
              <a:rPr lang="en-US" dirty="0"/>
              <a:t>PRC-I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normAutofit/>
          </a:bodyPr>
          <a:lstStyle/>
          <a:p>
            <a:pPr algn="ctr"/>
            <a:r>
              <a:rPr lang="en-IN" sz="3200" b="1" dirty="0">
                <a:latin typeface="Times New Roman" panose="02020603050405020304" pitchFamily="18" charset="0"/>
                <a:cs typeface="Times New Roman" panose="02020603050405020304" pitchFamily="18" charset="0"/>
              </a:rPr>
              <a:t>Literature Survey (1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400000"/>
          </a:xfrm>
        </p:spPr>
        <p:txBody>
          <a:bodyPr>
            <a:normAutofit fontScale="85000" lnSpcReduction="20000"/>
          </a:bodyPr>
          <a:lstStyle/>
          <a:p>
            <a:pPr marL="0" lvl="0" indent="0" eaLnBrk="0" fontAlgn="base" hangingPunct="0">
              <a:lnSpc>
                <a:spcPct val="100000"/>
              </a:lnSpc>
              <a:spcBef>
                <a:spcPct val="0"/>
              </a:spcBef>
              <a:spcAft>
                <a:spcPct val="0"/>
              </a:spcAft>
              <a:buNone/>
            </a:pPr>
            <a:r>
              <a:rPr lang="en-IN" dirty="0"/>
              <a:t>13 papers most relevant to this project, 2020 onwards:</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4002733138"/>
              </p:ext>
            </p:extLst>
          </p:nvPr>
        </p:nvGraphicFramePr>
        <p:xfrm>
          <a:off x="228600" y="1750000"/>
          <a:ext cx="11887195" cy="4325700"/>
        </p:xfrm>
        <a:graphic>
          <a:graphicData uri="http://schemas.openxmlformats.org/drawingml/2006/table">
            <a:tbl>
              <a:tblPr/>
              <a:tblGrid>
                <a:gridCol w="753979">
                  <a:extLst>
                    <a:ext uri="{9D8B030D-6E8A-4147-A177-3AD203B41FA5}">
                      <a16:colId xmlns:a16="http://schemas.microsoft.com/office/drawing/2014/main" val="2320967467"/>
                    </a:ext>
                  </a:extLst>
                </a:gridCol>
                <a:gridCol w="753979">
                  <a:extLst>
                    <a:ext uri="{9D8B030D-6E8A-4147-A177-3AD203B41FA5}">
                      <a16:colId xmlns:a16="http://schemas.microsoft.com/office/drawing/2014/main" val="1773147566"/>
                    </a:ext>
                  </a:extLst>
                </a:gridCol>
                <a:gridCol w="1122946">
                  <a:extLst>
                    <a:ext uri="{9D8B030D-6E8A-4147-A177-3AD203B41FA5}">
                      <a16:colId xmlns:a16="http://schemas.microsoft.com/office/drawing/2014/main" val="3614679244"/>
                    </a:ext>
                  </a:extLst>
                </a:gridCol>
                <a:gridCol w="1010652">
                  <a:extLst>
                    <a:ext uri="{9D8B030D-6E8A-4147-A177-3AD203B41FA5}">
                      <a16:colId xmlns:a16="http://schemas.microsoft.com/office/drawing/2014/main" val="1867444956"/>
                    </a:ext>
                  </a:extLst>
                </a:gridCol>
                <a:gridCol w="625642">
                  <a:extLst>
                    <a:ext uri="{9D8B030D-6E8A-4147-A177-3AD203B41FA5}">
                      <a16:colId xmlns:a16="http://schemas.microsoft.com/office/drawing/2014/main" val="2466615718"/>
                    </a:ext>
                  </a:extLst>
                </a:gridCol>
                <a:gridCol w="753979">
                  <a:extLst>
                    <a:ext uri="{9D8B030D-6E8A-4147-A177-3AD203B41FA5}">
                      <a16:colId xmlns:a16="http://schemas.microsoft.com/office/drawing/2014/main" val="3131005202"/>
                    </a:ext>
                  </a:extLst>
                </a:gridCol>
                <a:gridCol w="994610">
                  <a:extLst>
                    <a:ext uri="{9D8B030D-6E8A-4147-A177-3AD203B41FA5}">
                      <a16:colId xmlns:a16="http://schemas.microsoft.com/office/drawing/2014/main" val="2820496137"/>
                    </a:ext>
                  </a:extLst>
                </a:gridCol>
                <a:gridCol w="753979">
                  <a:extLst>
                    <a:ext uri="{9D8B030D-6E8A-4147-A177-3AD203B41FA5}">
                      <a16:colId xmlns:a16="http://schemas.microsoft.com/office/drawing/2014/main" val="3963344226"/>
                    </a:ext>
                  </a:extLst>
                </a:gridCol>
                <a:gridCol w="1122946">
                  <a:extLst>
                    <a:ext uri="{9D8B030D-6E8A-4147-A177-3AD203B41FA5}">
                      <a16:colId xmlns:a16="http://schemas.microsoft.com/office/drawing/2014/main" val="824182350"/>
                    </a:ext>
                  </a:extLst>
                </a:gridCol>
                <a:gridCol w="1331494">
                  <a:extLst>
                    <a:ext uri="{9D8B030D-6E8A-4147-A177-3AD203B41FA5}">
                      <a16:colId xmlns:a16="http://schemas.microsoft.com/office/drawing/2014/main" val="523834847"/>
                    </a:ext>
                  </a:extLst>
                </a:gridCol>
                <a:gridCol w="1283368">
                  <a:extLst>
                    <a:ext uri="{9D8B030D-6E8A-4147-A177-3AD203B41FA5}">
                      <a16:colId xmlns:a16="http://schemas.microsoft.com/office/drawing/2014/main" val="1021730221"/>
                    </a:ext>
                  </a:extLst>
                </a:gridCol>
                <a:gridCol w="1379621">
                  <a:extLst>
                    <a:ext uri="{9D8B030D-6E8A-4147-A177-3AD203B41FA5}">
                      <a16:colId xmlns:a16="http://schemas.microsoft.com/office/drawing/2014/main" val="44805945"/>
                    </a:ext>
                  </a:extLst>
                </a:gridCol>
              </a:tblGrid>
              <a:tr h="700000">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1</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2024</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Rezki, N.; Mansouri, M.</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err="1">
                          <a:latin typeface="Calibri"/>
                        </a:rPr>
                        <a:t>Deep learning hybrid models for effective SCRM: mitigating uncertainty while enhancing demand prediction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Acta Logistica, 11(4), 589-604</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Enhance SC demand forecasting and mitigate uncertainty with hybrid deep learning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SARIMA, LSTM, ANN, RNN, hybrid RNN-ANN + Gradient Boosting</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Automotive demand data (electric and thermal categories)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MAE, MSE, prediction accuracy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Hybrid RNN-ANN-GB consistently outperforms single models</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Demand forecasting only; no supplier-level risk score or early warning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10.22306/al.v11i4.552</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2</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2026</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dirty="0"/>
                        <a:t>Medina, A.</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Real-time supply chain risk prediction using ERP data analytics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IN" sz="800" i="1" dirty="0"/>
                        <a:t>IJACSEAI, 3(1), ISSN 3143-438X</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Predict real-time SC risk from continuous ERP operational data</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ERP data analytics, ML predictive models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ERP procurement, inventory, logistics, finance data</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Operational risk indicators, prediction accuracy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ERP analytics enable real-time risk prediction beyond historical reports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Internal ERP data only; no news or financial-market signals</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dirty="0">
                          <a:latin typeface="Calibri"/>
                        </a:rPr>
                        <a:t>ijacseai.com</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76111493"/>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3</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Hussein, N.J.; Ali, A.M.</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ML-driven predictive analytics for real-time supply chain risk management</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Proc. 113th ICAIIT (2025)</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Real-time SCRM using ML predictive analytics and anomaly detection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ML prediction models, anomaly detection</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Supply chain operational datasets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Accuracy, MAE, R-squared</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ML models significantly improve real-time SC risk management</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Anomaly-detection focus; no calibrated 90-day risk scores</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ICAIIT 2025</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29784"/>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4</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Khan, M.R.I., et al.</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Multimodal ML for proactive SCRM: AI-driven framework integrating sensor, operational and external intelligence</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J. of Computer Science and Technology Studies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Integrate multimodal data for proactive end-to-end risk assessment</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Multimodal ML, text mining, sentiment analysis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3,000 SC records, 12 months, 21 variables, 4 modalities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Prediction accuracy, early-warning capability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Multimodal integration increases predictive accuracy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No cloud deployment or interactive dashboard; limited scale</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JCSTS 2025</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4082329"/>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5</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2024</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Li, C.; Chen, H.</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Machine learning based supply chain risk prediction and management</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ICCSMT 2024, ACM</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Apply ML and predictive parsing for proactive risk management</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ML, predictive parsing, blockchain (proposed)</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Conceptual / illustrative SC network</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Risk prediction, security, competitiveness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ML shifts reactive crisis management to proactive avoidance</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Conceptual framework; no implementation or calibration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dirty="0">
                          <a:latin typeface="Calibri"/>
                        </a:rPr>
                        <a:t>10.1145/3708036.3708177</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5463376"/>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66550" y="322922"/>
            <a:ext cx="10173182" cy="1128009"/>
          </a:xfrm>
        </p:spPr>
        <p:txBody>
          <a:bodyPr>
            <a:normAutofit/>
          </a:bodyPr>
          <a:lstStyle/>
          <a:p>
            <a:pPr algn="ctr"/>
            <a:r>
              <a:rPr lang="en-IN" sz="3200" b="1" dirty="0">
                <a:latin typeface="Times New Roman" panose="02020603050405020304" pitchFamily="18" charset="0"/>
                <a:cs typeface="Times New Roman" panose="02020603050405020304" pitchFamily="18" charset="0"/>
              </a:rPr>
              <a:t>Literature Survey (2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400000"/>
          </a:xfrm>
        </p:spPr>
        <p:txBody>
          <a:bodyPr>
            <a:normAutofit fontScale="85000" lnSpcReduction="20000"/>
          </a:bodyPr>
          <a:lstStyle/>
          <a:p>
            <a:pPr marL="0" lvl="0" indent="0" eaLnBrk="0" fontAlgn="base" hangingPunct="0">
              <a:lnSpc>
                <a:spcPct val="100000"/>
              </a:lnSpc>
              <a:spcBef>
                <a:spcPct val="0"/>
              </a:spcBef>
              <a:spcAft>
                <a:spcPct val="0"/>
              </a:spcAft>
              <a:buNone/>
            </a:pPr>
            <a:r>
              <a:rPr lang="en-IN" dirty="0"/>
              <a:t>13 papers most relevant to this project, 2020 onwards:</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228600" y="1750000"/>
          <a:ext cx="11887195" cy="3503800"/>
        </p:xfrm>
        <a:graphic>
          <a:graphicData uri="http://schemas.openxmlformats.org/drawingml/2006/table">
            <a:tbl>
              <a:tblPr/>
              <a:tblGrid>
                <a:gridCol w="753979">
                  <a:extLst>
                    <a:ext uri="{9D8B030D-6E8A-4147-A177-3AD203B41FA5}">
                      <a16:colId xmlns:a16="http://schemas.microsoft.com/office/drawing/2014/main" val="2320967467"/>
                    </a:ext>
                  </a:extLst>
                </a:gridCol>
                <a:gridCol w="753979">
                  <a:extLst>
                    <a:ext uri="{9D8B030D-6E8A-4147-A177-3AD203B41FA5}">
                      <a16:colId xmlns:a16="http://schemas.microsoft.com/office/drawing/2014/main" val="1773147566"/>
                    </a:ext>
                  </a:extLst>
                </a:gridCol>
                <a:gridCol w="1122946">
                  <a:extLst>
                    <a:ext uri="{9D8B030D-6E8A-4147-A177-3AD203B41FA5}">
                      <a16:colId xmlns:a16="http://schemas.microsoft.com/office/drawing/2014/main" val="3614679244"/>
                    </a:ext>
                  </a:extLst>
                </a:gridCol>
                <a:gridCol w="1010652">
                  <a:extLst>
                    <a:ext uri="{9D8B030D-6E8A-4147-A177-3AD203B41FA5}">
                      <a16:colId xmlns:a16="http://schemas.microsoft.com/office/drawing/2014/main" val="1867444956"/>
                    </a:ext>
                  </a:extLst>
                </a:gridCol>
                <a:gridCol w="625642">
                  <a:extLst>
                    <a:ext uri="{9D8B030D-6E8A-4147-A177-3AD203B41FA5}">
                      <a16:colId xmlns:a16="http://schemas.microsoft.com/office/drawing/2014/main" val="2466615718"/>
                    </a:ext>
                  </a:extLst>
                </a:gridCol>
                <a:gridCol w="753979">
                  <a:extLst>
                    <a:ext uri="{9D8B030D-6E8A-4147-A177-3AD203B41FA5}">
                      <a16:colId xmlns:a16="http://schemas.microsoft.com/office/drawing/2014/main" val="3131005202"/>
                    </a:ext>
                  </a:extLst>
                </a:gridCol>
                <a:gridCol w="994610">
                  <a:extLst>
                    <a:ext uri="{9D8B030D-6E8A-4147-A177-3AD203B41FA5}">
                      <a16:colId xmlns:a16="http://schemas.microsoft.com/office/drawing/2014/main" val="2820496137"/>
                    </a:ext>
                  </a:extLst>
                </a:gridCol>
                <a:gridCol w="753979">
                  <a:extLst>
                    <a:ext uri="{9D8B030D-6E8A-4147-A177-3AD203B41FA5}">
                      <a16:colId xmlns:a16="http://schemas.microsoft.com/office/drawing/2014/main" val="3963344226"/>
                    </a:ext>
                  </a:extLst>
                </a:gridCol>
                <a:gridCol w="1122946">
                  <a:extLst>
                    <a:ext uri="{9D8B030D-6E8A-4147-A177-3AD203B41FA5}">
                      <a16:colId xmlns:a16="http://schemas.microsoft.com/office/drawing/2014/main" val="824182350"/>
                    </a:ext>
                  </a:extLst>
                </a:gridCol>
                <a:gridCol w="1331494">
                  <a:extLst>
                    <a:ext uri="{9D8B030D-6E8A-4147-A177-3AD203B41FA5}">
                      <a16:colId xmlns:a16="http://schemas.microsoft.com/office/drawing/2014/main" val="523834847"/>
                    </a:ext>
                  </a:extLst>
                </a:gridCol>
                <a:gridCol w="1283368">
                  <a:extLst>
                    <a:ext uri="{9D8B030D-6E8A-4147-A177-3AD203B41FA5}">
                      <a16:colId xmlns:a16="http://schemas.microsoft.com/office/drawing/2014/main" val="1021730221"/>
                    </a:ext>
                  </a:extLst>
                </a:gridCol>
                <a:gridCol w="1379621">
                  <a:extLst>
                    <a:ext uri="{9D8B030D-6E8A-4147-A177-3AD203B41FA5}">
                      <a16:colId xmlns:a16="http://schemas.microsoft.com/office/drawing/2014/main" val="44805945"/>
                    </a:ext>
                  </a:extLst>
                </a:gridCol>
              </a:tblGrid>
              <a:tr h="700000">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6</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2026</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Vankayalapati, R.H.; Banerjee, A.</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 systematic review on applications of deep learning in SCRM</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Operations Research Forum, 7:94</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Systematically review DL applications in SCRM</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Systematic review of DL vs static/heuristic models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Reviewed literature (2020 onwards)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Risk taxonomy, model categories, gaps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DL is transformative; static models and limited real-time data are inadequate</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Calls for explainable, real-time multi-source models</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10.1007/s43069-026-00682-7</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7</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Hasan, M.R., et al.</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Building robust AI and ML models for supplier risk management: SC resilience in the USA</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Advances in Consumer Research, 2(4)</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Data-driven robust supplier risk modeling for resilience</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Robust AI/ML classifiers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Supplier performance / firm-level US data</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Model robustness, prediction accuracy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Robust ML improves supplier risk assessment and resilience</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USA-specific; no news sentiment or 90-day early warning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ACR 2(4)</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4358210"/>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8</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2026</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Pandey, A.</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Cognitive Supplier Risk Intelligence (CSRI): hybrid XGBoost-LSTM for calibrated supplier disruption scoring in EV procurement</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SSRN Working Paper 6671438</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Calibrated 0-100 disruption scores with 90-day advance warning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XGBoost-LSTM ensemble, Platt scaling, SHAP</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Public data; 5 cases, 4 geographies, 4 failure modes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Calibration, 90-day warning, SHAP attributions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Calibrated probabilities support threshold-based procurement action</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EV-procurement focus; no news sentiment or dashboard</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SSRN 6671438</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04714266"/>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9</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2023</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Sadeek, S.N.; Hanaoka, S.</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Assessment of text-generated supply chain risks considering news and social media during disruptive events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Social Network Analysis and Mining, 13:96</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Detect SC risks from news/Twitter before events occur</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LDA topic modeling, NLP sentiment, ordered probit</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News media + Twitter (COVID-19, Ukraine-Russia war)</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Risk topics, sentiment, time-varying proportions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Textual data captures risks before events actually occur</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Risk identification only; no financial indicators or scoring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dirty="0">
                          <a:latin typeface="Calibri"/>
                        </a:rPr>
                        <a:t>10.1007/s13278-023-01100-0</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67148791"/>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8" y="365125"/>
            <a:ext cx="10173182" cy="1128009"/>
          </a:xfrm>
        </p:spPr>
        <p:txBody>
          <a:bodyPr>
            <a:normAutofit/>
          </a:bodyPr>
          <a:lstStyle/>
          <a:p>
            <a:pPr algn="ctr"/>
            <a:r>
              <a:rPr lang="en-IN" sz="3200" b="1" dirty="0">
                <a:latin typeface="Times New Roman" panose="02020603050405020304" pitchFamily="18" charset="0"/>
                <a:cs typeface="Times New Roman" panose="02020603050405020304" pitchFamily="18" charset="0"/>
              </a:rPr>
              <a:t>Literature Survey (3 of 3)</a:t>
            </a:r>
          </a:p>
        </p:txBody>
      </p:sp>
      <p:sp>
        <p:nvSpPr>
          <p:cNvPr id="9" name="Content Placeholder 8">
            <a:extLst>
              <a:ext uri="{FF2B5EF4-FFF2-40B4-BE49-F238E27FC236}">
                <a16:creationId xmlns:a16="http://schemas.microsoft.com/office/drawing/2014/main" id="{C5679BD2-A51A-9AA0-A461-44D352276E52}"/>
              </a:ext>
            </a:extLst>
          </p:cNvPr>
          <p:cNvSpPr>
            <a:spLocks noGrp="1"/>
          </p:cNvSpPr>
          <p:nvPr>
            <p:ph idx="1"/>
          </p:nvPr>
        </p:nvSpPr>
        <p:spPr>
          <a:xfrm>
            <a:off x="838200" y="1250731"/>
            <a:ext cx="10515600" cy="400000"/>
          </a:xfrm>
        </p:spPr>
        <p:txBody>
          <a:bodyPr>
            <a:normAutofit fontScale="85000" lnSpcReduction="20000"/>
          </a:bodyPr>
          <a:lstStyle/>
          <a:p>
            <a:pPr marL="0" lvl="0" indent="0" eaLnBrk="0" fontAlgn="base" hangingPunct="0">
              <a:lnSpc>
                <a:spcPct val="100000"/>
              </a:lnSpc>
              <a:spcBef>
                <a:spcPct val="0"/>
              </a:spcBef>
              <a:spcAft>
                <a:spcPct val="0"/>
              </a:spcAft>
              <a:buNone/>
            </a:pPr>
            <a:r>
              <a:rPr lang="en-IN" dirty="0">
                <a:latin typeface="Times New Roman" panose="02020603050405020304" pitchFamily="18" charset="0"/>
                <a:cs typeface="Times New Roman" panose="02020603050405020304" pitchFamily="18" charset="0"/>
              </a:rPr>
              <a:t>13 papers most relevant to this project, 2020 onwards:</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6" name="Table 5">
            <a:extLst>
              <a:ext uri="{FF2B5EF4-FFF2-40B4-BE49-F238E27FC236}">
                <a16:creationId xmlns:a16="http://schemas.microsoft.com/office/drawing/2014/main" id="{2D07D7A9-8878-6941-85F0-B9C44D648371}"/>
              </a:ext>
            </a:extLst>
          </p:cNvPr>
          <p:cNvGraphicFramePr>
            <a:graphicFrameLocks noGrp="1"/>
          </p:cNvGraphicFramePr>
          <p:nvPr>
            <p:extLst>
              <p:ext uri="{D42A27DB-BD31-4B8C-83A1-F6EECF244321}">
                <p14:modId xmlns:p14="http://schemas.microsoft.com/office/powerpoint/2010/main" val="3980787444"/>
              </p:ext>
            </p:extLst>
          </p:nvPr>
        </p:nvGraphicFramePr>
        <p:xfrm>
          <a:off x="228600" y="1750000"/>
          <a:ext cx="11887195" cy="3500000"/>
        </p:xfrm>
        <a:graphic>
          <a:graphicData uri="http://schemas.openxmlformats.org/drawingml/2006/table">
            <a:tbl>
              <a:tblPr/>
              <a:tblGrid>
                <a:gridCol w="753979">
                  <a:extLst>
                    <a:ext uri="{9D8B030D-6E8A-4147-A177-3AD203B41FA5}">
                      <a16:colId xmlns:a16="http://schemas.microsoft.com/office/drawing/2014/main" val="2320967467"/>
                    </a:ext>
                  </a:extLst>
                </a:gridCol>
                <a:gridCol w="753979">
                  <a:extLst>
                    <a:ext uri="{9D8B030D-6E8A-4147-A177-3AD203B41FA5}">
                      <a16:colId xmlns:a16="http://schemas.microsoft.com/office/drawing/2014/main" val="1773147566"/>
                    </a:ext>
                  </a:extLst>
                </a:gridCol>
                <a:gridCol w="1122946">
                  <a:extLst>
                    <a:ext uri="{9D8B030D-6E8A-4147-A177-3AD203B41FA5}">
                      <a16:colId xmlns:a16="http://schemas.microsoft.com/office/drawing/2014/main" val="3614679244"/>
                    </a:ext>
                  </a:extLst>
                </a:gridCol>
                <a:gridCol w="1010652">
                  <a:extLst>
                    <a:ext uri="{9D8B030D-6E8A-4147-A177-3AD203B41FA5}">
                      <a16:colId xmlns:a16="http://schemas.microsoft.com/office/drawing/2014/main" val="1867444956"/>
                    </a:ext>
                  </a:extLst>
                </a:gridCol>
                <a:gridCol w="625642">
                  <a:extLst>
                    <a:ext uri="{9D8B030D-6E8A-4147-A177-3AD203B41FA5}">
                      <a16:colId xmlns:a16="http://schemas.microsoft.com/office/drawing/2014/main" val="2466615718"/>
                    </a:ext>
                  </a:extLst>
                </a:gridCol>
                <a:gridCol w="753979">
                  <a:extLst>
                    <a:ext uri="{9D8B030D-6E8A-4147-A177-3AD203B41FA5}">
                      <a16:colId xmlns:a16="http://schemas.microsoft.com/office/drawing/2014/main" val="3131005202"/>
                    </a:ext>
                  </a:extLst>
                </a:gridCol>
                <a:gridCol w="994610">
                  <a:extLst>
                    <a:ext uri="{9D8B030D-6E8A-4147-A177-3AD203B41FA5}">
                      <a16:colId xmlns:a16="http://schemas.microsoft.com/office/drawing/2014/main" val="2820496137"/>
                    </a:ext>
                  </a:extLst>
                </a:gridCol>
                <a:gridCol w="753979">
                  <a:extLst>
                    <a:ext uri="{9D8B030D-6E8A-4147-A177-3AD203B41FA5}">
                      <a16:colId xmlns:a16="http://schemas.microsoft.com/office/drawing/2014/main" val="3963344226"/>
                    </a:ext>
                  </a:extLst>
                </a:gridCol>
                <a:gridCol w="1122946">
                  <a:extLst>
                    <a:ext uri="{9D8B030D-6E8A-4147-A177-3AD203B41FA5}">
                      <a16:colId xmlns:a16="http://schemas.microsoft.com/office/drawing/2014/main" val="824182350"/>
                    </a:ext>
                  </a:extLst>
                </a:gridCol>
                <a:gridCol w="1331494">
                  <a:extLst>
                    <a:ext uri="{9D8B030D-6E8A-4147-A177-3AD203B41FA5}">
                      <a16:colId xmlns:a16="http://schemas.microsoft.com/office/drawing/2014/main" val="523834847"/>
                    </a:ext>
                  </a:extLst>
                </a:gridCol>
                <a:gridCol w="1283368">
                  <a:extLst>
                    <a:ext uri="{9D8B030D-6E8A-4147-A177-3AD203B41FA5}">
                      <a16:colId xmlns:a16="http://schemas.microsoft.com/office/drawing/2014/main" val="1021730221"/>
                    </a:ext>
                  </a:extLst>
                </a:gridCol>
                <a:gridCol w="1379621">
                  <a:extLst>
                    <a:ext uri="{9D8B030D-6E8A-4147-A177-3AD203B41FA5}">
                      <a16:colId xmlns:a16="http://schemas.microsoft.com/office/drawing/2014/main" val="44805945"/>
                    </a:ext>
                  </a:extLst>
                </a:gridCol>
              </a:tblGrid>
              <a:tr h="700000">
                <a:tc>
                  <a:txBody>
                    <a:bodyPr/>
                    <a:lstStyle/>
                    <a:p>
                      <a:pPr algn="ctr" fontAlgn="ctr">
                        <a:buNone/>
                      </a:pPr>
                      <a:r>
                        <a:rPr lang="en-IN" sz="1000" b="1" i="0" u="none" strike="noStrike">
                          <a:solidFill>
                            <a:srgbClr val="000000"/>
                          </a:solidFill>
                          <a:effectLst/>
                          <a:latin typeface="Calibri" panose="020F0502020204030204" pitchFamily="34" charset="0"/>
                        </a:rPr>
                        <a:t>Sl No</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000" b="1" i="0" u="none" strike="noStrike">
                          <a:solidFill>
                            <a:srgbClr val="000000"/>
                          </a:solidFill>
                          <a:effectLst/>
                          <a:latin typeface="Calibri" panose="020F0502020204030204" pitchFamily="34" charset="0"/>
                        </a:rPr>
                        <a:t>Year( from 2020 onwards papers)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Authors</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Title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Source(Journal/Conference name)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Objectve of the paper</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Techniques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Dataset Used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Parameters Analysed</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Inference</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000" b="1" i="0" u="none" strike="noStrike">
                          <a:solidFill>
                            <a:srgbClr val="000000"/>
                          </a:solidFill>
                          <a:effectLst/>
                          <a:latin typeface="Calibri" panose="020F0502020204030204" pitchFamily="34" charset="0"/>
                        </a:rPr>
                        <a:t>Research Gap</a:t>
                      </a:r>
                    </a:p>
                  </a:txBody>
                  <a:tcPr marL="6694" marR="6694" marT="669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lang="en-IN" sz="1000" b="1" i="0" u="none" strike="noStrike" dirty="0">
                          <a:solidFill>
                            <a:srgbClr val="000000"/>
                          </a:solidFill>
                          <a:effectLst/>
                          <a:latin typeface="Calibri" panose="020F0502020204030204" pitchFamily="34" charset="0"/>
                        </a:rPr>
                        <a:t>DOI of the paper </a:t>
                      </a:r>
                    </a:p>
                  </a:txBody>
                  <a:tcPr marL="6694" marR="6694" marT="6694"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0844040"/>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10</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dirty="0">
                          <a:latin typeface="Calibri"/>
                        </a:rPr>
                        <a:t>Li, J.F.; Li, W.; Wei, X.; Xu, W.</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Supply chain risk measurement and resilience: insights from large language models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SSRN 5072995 (Dec 2025)</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Build a fine-grained firm-level SCR index from unstructured reports</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Zero-shot LLM prompting (Flan-T5, GPT-4)</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Corporate annual and quarterly reports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SCR index, correlation with financials and inventory</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SCRs rose since 2018; supplier and customer SCRs positively correlated</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Measures risk, does not predict disruptions; no 90-day horizon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SSRN 5072995</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56022503"/>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11</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2024</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Shahsavari, M.; Hussain, O.K.; Saberi, M.; Sharma, P.</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Event identification for SCRM through news analysis using large language models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Review of Socionetwork Strategies, 18, 255-278</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Identify contributing risk events from news without training data</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LUEI framework (unsupervised LLM), Bayesian network (CERIA)</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Daily news articles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Event occurrence, relevance labels, contributing events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Lightweight unsupervised framework pinpoints contributing events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Event identification only; no risk scoring or financial modeling</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10.1007/s12626-024-00169-z</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1758253"/>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12</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Zhao, M.; Hussain, O.; Zhang, Y.; Saberi, M.; Leshob, A.</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Benchmarking LLMs for supply chain risk identification: extended evaluation within the LARD-SC framework</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Service Oriented Computing and Applications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Benchmark LLMs for risk detection, classification, interpretation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GPT-3.5 turbo, GPT-4o, GPT-4o mini, Claude 3.5 Sonnet/Haiku</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120 news articles on Apple Tier-1 suppliers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RVR, PRR, FIR, Relative Performance Index</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GPT-4o variants give most accurate validated risk identifications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Risk identification only; no financial modeling or 90-day prediction</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10.1007/s11761-025-00474-7</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5309110"/>
                  </a:ext>
                </a:extLst>
              </a:tr>
              <a:tr h="700000">
                <a:tc>
                  <a:txBody>
                    <a:bodyPr/>
                    <a:lstStyle/>
                    <a:p>
                      <a:pPr algn="ctr" fontAlgn="ctr">
                        <a:buNone/>
                      </a:pPr>
                      <a:r>
                        <a:rPr lang="en-IN" sz="750" b="0" i="0" u="none" strike="noStrike">
                          <a:solidFill>
                            <a:srgbClr val="000000"/>
                          </a:solidFill>
                          <a:effectLst/>
                          <a:latin typeface="Calibri" panose="020F0502020204030204" pitchFamily="34" charset="0"/>
                        </a:rPr>
                        <a:t>13</a:t>
                      </a: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2025</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Iqbal, U.</a:t>
                      </a:r>
                      <a:endParaRPr lang="en-IN"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AI-powered supplier risk intelligence: predicting financial and geopolitical SC disruptions in U.S. critical industries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JECIR, 3(2), 2025</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Unified financial + geopolitical supplier risk intelligence</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XGBoost (financial distress), BERT (geopolitical analysis)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10,245 suppliers; 6 years financials (2018-2024); 15M geopolitical docs</a:t>
                      </a:r>
                      <a:endParaRPr lang="en-IN"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Accuracy 89% (AUC 0.89, F1 0.85); 3.4-month lead time</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Unified multimodal framework 87% vs 67% single-dimension baselines</a:t>
                      </a:r>
                      <a:endParaRPr lang="en-US" sz="1000" b="0" i="0" u="none" strike="noStrike">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sz="750" b="0">
                          <a:latin typeface="Calibri"/>
                        </a:rPr>
                        <a:t>U.S.-centric; BERT not FinBERT; no dashboard or 90-day sentiment LSTM</a:t>
                      </a:r>
                      <a:endParaRPr lang="en-US" sz="1000" b="0" i="0" u="none" strike="noStrike" dirty="0">
                        <a:solidFill>
                          <a:srgbClr val="000000"/>
                        </a:solidFill>
                        <a:effectLst/>
                        <a:latin typeface="Times New Roman" panose="02020603050405020304" pitchFamily="18" charset="0"/>
                      </a:endParaRPr>
                    </a:p>
                  </a:txBody>
                  <a:tcPr marL="18000" marR="18000" marT="9000" marB="9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r>
                        <a:rPr sz="750" b="0">
                          <a:latin typeface="Calibri"/>
                        </a:rPr>
                        <a:t>JECIR 3(2)</a:t>
                      </a:r>
                      <a:endParaRPr lang="en-IN" sz="1000" b="0" i="0" u="none" strike="noStrike" dirty="0">
                        <a:solidFill>
                          <a:srgbClr val="000000"/>
                        </a:solidFill>
                        <a:effectLst/>
                        <a:latin typeface="Calibri" panose="020F0502020204030204" pitchFamily="34" charset="0"/>
                      </a:endParaRPr>
                    </a:p>
                  </a:txBody>
                  <a:tcPr marL="18000" marR="18000" marT="9000" marB="900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7610486"/>
                  </a:ext>
                </a:extLst>
              </a:tr>
            </a:tbl>
          </a:graphicData>
        </a:graphic>
      </p:graphicFrame>
      <p:sp>
        <p:nvSpPr>
          <p:cNvPr id="11" name="Footer Placeholder 2">
            <a:extLst>
              <a:ext uri="{FF2B5EF4-FFF2-40B4-BE49-F238E27FC236}">
                <a16:creationId xmlns:a16="http://schemas.microsoft.com/office/drawing/2014/main" id="{1F0CD418-099C-428F-95D7-1D5909D142F7}"/>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normAutofit/>
          </a:bodyPr>
          <a:lstStyle/>
          <a:p>
            <a:pPr algn="ctr"/>
            <a:r>
              <a:rPr lang="en-IN" sz="3200" b="1" dirty="0">
                <a:latin typeface="Times New Roman" panose="02020603050405020304" pitchFamily="18" charset="0"/>
                <a:cs typeface="Times New Roman" panose="02020603050405020304" pitchFamily="18" charset="0"/>
              </a:rPr>
              <a:t>Research Gap Identification</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650000"/>
            <a:ext cx="10515600" cy="700000"/>
          </a:xfrm>
        </p:spPr>
        <p:txBody>
          <a:bodyPr>
            <a:normAutofit/>
          </a:bodyPr>
          <a:lstStyle/>
          <a:p>
            <a:pPr lvl="0" algn="just" eaLnBrk="0" fontAlgn="base" hangingPunct="0">
              <a:lnSpc>
                <a:spcPct val="100000"/>
              </a:lnSpc>
              <a:spcBef>
                <a:spcPct val="0"/>
              </a:spcBef>
              <a:spcAft>
                <a:spcPct val="0"/>
              </a:spcAft>
            </a:pPr>
            <a:r>
              <a:rPr lang="en-IN" sz="1400" dirty="0">
                <a:latin typeface="Times New Roman" panose="02020603050405020304" pitchFamily="18" charset="0"/>
                <a:cs typeface="Times New Roman" panose="02020603050405020304" pitchFamily="18" charset="0"/>
              </a:rPr>
              <a:t>Research gap identification analyzes existing literature to identify limitations and unresolved issues, providing the basis for the proposed research work.</a:t>
            </a:r>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a:xfrm flipV="1">
            <a:off x="838200" y="6721475"/>
            <a:ext cx="2743200" cy="1333954"/>
          </a:xfrm>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graphicFrame>
        <p:nvGraphicFramePr>
          <p:cNvPr id="3" name="Table 2">
            <a:extLst>
              <a:ext uri="{FF2B5EF4-FFF2-40B4-BE49-F238E27FC236}">
                <a16:creationId xmlns:a16="http://schemas.microsoft.com/office/drawing/2014/main" id="{BEF1EDB7-8761-CEC4-B291-FF5C19314D39}"/>
              </a:ext>
            </a:extLst>
          </p:cNvPr>
          <p:cNvGraphicFramePr>
            <a:graphicFrameLocks noGrp="1"/>
          </p:cNvGraphicFramePr>
          <p:nvPr>
            <p:extLst>
              <p:ext uri="{D42A27DB-BD31-4B8C-83A1-F6EECF244321}">
                <p14:modId xmlns:p14="http://schemas.microsoft.com/office/powerpoint/2010/main" val="1623495393"/>
              </p:ext>
            </p:extLst>
          </p:nvPr>
        </p:nvGraphicFramePr>
        <p:xfrm>
          <a:off x="0" y="2350000"/>
          <a:ext cx="12115800" cy="4142874"/>
        </p:xfrm>
        <a:graphic>
          <a:graphicData uri="http://schemas.openxmlformats.org/drawingml/2006/table">
            <a:tbl>
              <a:tblPr>
                <a:tableStyleId>{9D7B26C5-4107-4FEC-AEDC-1716B250A1EF}</a:tableStyleId>
              </a:tblPr>
              <a:tblGrid>
                <a:gridCol w="488075">
                  <a:extLst>
                    <a:ext uri="{9D8B030D-6E8A-4147-A177-3AD203B41FA5}">
                      <a16:colId xmlns:a16="http://schemas.microsoft.com/office/drawing/2014/main" val="833555039"/>
                    </a:ext>
                  </a:extLst>
                </a:gridCol>
                <a:gridCol w="2537989">
                  <a:extLst>
                    <a:ext uri="{9D8B030D-6E8A-4147-A177-3AD203B41FA5}">
                      <a16:colId xmlns:a16="http://schemas.microsoft.com/office/drawing/2014/main" val="848811906"/>
                    </a:ext>
                  </a:extLst>
                </a:gridCol>
                <a:gridCol w="1854684">
                  <a:extLst>
                    <a:ext uri="{9D8B030D-6E8A-4147-A177-3AD203B41FA5}">
                      <a16:colId xmlns:a16="http://schemas.microsoft.com/office/drawing/2014/main" val="1963808402"/>
                    </a:ext>
                  </a:extLst>
                </a:gridCol>
                <a:gridCol w="3428069">
                  <a:extLst>
                    <a:ext uri="{9D8B030D-6E8A-4147-A177-3AD203B41FA5}">
                      <a16:colId xmlns:a16="http://schemas.microsoft.com/office/drawing/2014/main" val="7160780"/>
                    </a:ext>
                  </a:extLst>
                </a:gridCol>
                <a:gridCol w="1952299">
                  <a:extLst>
                    <a:ext uri="{9D8B030D-6E8A-4147-A177-3AD203B41FA5}">
                      <a16:colId xmlns:a16="http://schemas.microsoft.com/office/drawing/2014/main" val="315075706"/>
                    </a:ext>
                  </a:extLst>
                </a:gridCol>
                <a:gridCol w="1854684">
                  <a:extLst>
                    <a:ext uri="{9D8B030D-6E8A-4147-A177-3AD203B41FA5}">
                      <a16:colId xmlns:a16="http://schemas.microsoft.com/office/drawing/2014/main" val="3069808396"/>
                    </a:ext>
                  </a:extLst>
                </a:gridCol>
              </a:tblGrid>
              <a:tr h="690479">
                <a:tc>
                  <a:txBody>
                    <a:bodyPr/>
                    <a:lstStyle/>
                    <a:p>
                      <a:pPr algn="ctr">
                        <a:buNone/>
                      </a:pPr>
                      <a:r>
                        <a:rPr lang="en-IN" sz="950" b="1" dirty="0" err="1"/>
                        <a:t>S.No.</a:t>
                      </a:r>
                      <a:endParaRPr lang="en-IN" sz="950" b="1" dirty="0" err="1">
                        <a:latin typeface="Calibri"/>
                      </a:endParaRPr>
                    </a:p>
                  </a:txBody>
                  <a:tcPr marL="76339" marR="76339" marT="38170" marB="38170" anchor="ctr"/>
                </a:tc>
                <a:tc>
                  <a:txBody>
                    <a:bodyPr/>
                    <a:lstStyle/>
                    <a:p>
                      <a:pPr algn="l">
                        <a:buNone/>
                      </a:pPr>
                      <a:r>
                        <a:rPr lang="en-IN" sz="950" b="1" dirty="0"/>
                        <a:t>Paper Title</a:t>
                      </a:r>
                      <a:endParaRPr lang="en-IN" sz="950" b="1" dirty="0">
                        <a:latin typeface="Calibri"/>
                      </a:endParaRPr>
                    </a:p>
                  </a:txBody>
                  <a:tcPr marL="76339" marR="76339" marT="38170" marB="38170" anchor="ctr"/>
                </a:tc>
                <a:tc>
                  <a:txBody>
                    <a:bodyPr/>
                    <a:lstStyle/>
                    <a:p>
                      <a:pPr algn="l">
                        <a:buNone/>
                      </a:pPr>
                      <a:r>
                        <a:rPr lang="en-IN" sz="950" b="1" dirty="0"/>
                        <a:t>Author Name(s)</a:t>
                      </a:r>
                      <a:endParaRPr lang="en-IN" sz="950" b="1" dirty="0">
                        <a:latin typeface="Calibri"/>
                      </a:endParaRPr>
                    </a:p>
                  </a:txBody>
                  <a:tcPr marL="76339" marR="76339" marT="38170" marB="38170" anchor="ctr"/>
                </a:tc>
                <a:tc>
                  <a:txBody>
                    <a:bodyPr/>
                    <a:lstStyle/>
                    <a:p>
                      <a:pPr algn="l">
                        <a:buNone/>
                      </a:pPr>
                      <a:r>
                        <a:rPr lang="en-IN" sz="950" b="1" dirty="0"/>
                        <a:t>Methodology / Model Used</a:t>
                      </a:r>
                      <a:endParaRPr lang="en-IN" sz="950" b="1" dirty="0">
                        <a:latin typeface="Calibri"/>
                      </a:endParaRPr>
                    </a:p>
                  </a:txBody>
                  <a:tcPr marL="76339" marR="76339" marT="38170" marB="38170" anchor="ctr"/>
                </a:tc>
                <a:tc>
                  <a:txBody>
                    <a:bodyPr/>
                    <a:lstStyle/>
                    <a:p>
                      <a:pPr algn="l">
                        <a:buNone/>
                      </a:pPr>
                      <a:r>
                        <a:rPr lang="en-IN" sz="950" b="1" dirty="0"/>
                        <a:t>Key Findings</a:t>
                      </a:r>
                      <a:endParaRPr lang="en-IN" sz="950" b="1" dirty="0">
                        <a:latin typeface="Calibri"/>
                      </a:endParaRPr>
                    </a:p>
                  </a:txBody>
                  <a:tcPr marL="76339" marR="76339" marT="38170" marB="38170" anchor="ctr"/>
                </a:tc>
                <a:tc>
                  <a:txBody>
                    <a:bodyPr/>
                    <a:lstStyle/>
                    <a:p>
                      <a:pPr algn="l">
                        <a:buNone/>
                      </a:pPr>
                      <a:r>
                        <a:rPr lang="en-IN" sz="950" b="1" dirty="0"/>
                        <a:t>Research Gap Identified</a:t>
                      </a:r>
                      <a:endParaRPr lang="en-IN" sz="950" b="1" dirty="0">
                        <a:latin typeface="Calibri"/>
                      </a:endParaRPr>
                    </a:p>
                  </a:txBody>
                  <a:tcPr marL="76339" marR="76339" marT="38170" marB="38170" anchor="ctr"/>
                </a:tc>
                <a:extLst>
                  <a:ext uri="{0D108BD9-81ED-4DB2-BD59-A6C34878D82A}">
                    <a16:rowId xmlns:a16="http://schemas.microsoft.com/office/drawing/2014/main" val="2059430168"/>
                  </a:ext>
                </a:extLst>
              </a:tr>
              <a:tr h="690479">
                <a:tc>
                  <a:txBody>
                    <a:bodyPr/>
                    <a:lstStyle/>
                    <a:p>
                      <a:pPr algn="ctr">
                        <a:buNone/>
                      </a:pPr>
                      <a:r>
                        <a:rPr lang="en-IN" sz="850" b="0"/>
                        <a:t>1</a:t>
                      </a:r>
                      <a:endParaRPr lang="en-IN" sz="850" b="0">
                        <a:latin typeface="Calibri"/>
                      </a:endParaRPr>
                    </a:p>
                  </a:txBody>
                  <a:tcPr marL="76339" marR="76339" marT="38170" marB="38170" anchor="ctr"/>
                </a:tc>
                <a:tc>
                  <a:txBody>
                    <a:bodyPr/>
                    <a:lstStyle/>
                    <a:p>
                      <a:pPr algn="l">
                        <a:buNone/>
                      </a:pPr>
                      <a:r>
                        <a:rPr lang="en-IN" sz="850" b="0" dirty="0" err="1"/>
                        <a:t>Deep learning hybrid models for effective SCRM (2024)</a:t>
                      </a:r>
                      <a:endParaRPr lang="en-IN" sz="850" b="0" dirty="0">
                        <a:latin typeface="Calibri"/>
                      </a:endParaRPr>
                    </a:p>
                  </a:txBody>
                  <a:tcPr marL="76339" marR="76339" marT="38170" marB="38170" anchor="ctr"/>
                </a:tc>
                <a:tc>
                  <a:txBody>
                    <a:bodyPr/>
                    <a:lstStyle/>
                    <a:p>
                      <a:pPr algn="l">
                        <a:buNone/>
                      </a:pPr>
                      <a:r>
                        <a:rPr lang="en-IN" sz="850" b="0" dirty="0"/>
                        <a:t>Rezki, N.; Mansouri, M.</a:t>
                      </a:r>
                      <a:endParaRPr lang="en-IN" sz="850" b="0" dirty="0">
                        <a:latin typeface="Calibri"/>
                      </a:endParaRPr>
                    </a:p>
                  </a:txBody>
                  <a:tcPr marL="76339" marR="76339" marT="38170" marB="38170" anchor="ctr"/>
                </a:tc>
                <a:tc>
                  <a:txBody>
                    <a:bodyPr/>
                    <a:lstStyle/>
                    <a:p>
                      <a:pPr algn="l">
                        <a:buNone/>
                      </a:pPr>
                      <a:r>
                        <a:rPr lang="en-IN" sz="850" b="0" dirty="0"/>
                        <a:t>SARIMA, LSTM, ANN, RNN, hybrid RNN-ANN + gradient boosting</a:t>
                      </a:r>
                      <a:endParaRPr lang="en-IN" sz="850" b="0" dirty="0">
                        <a:latin typeface="Calibri"/>
                      </a:endParaRPr>
                    </a:p>
                  </a:txBody>
                  <a:tcPr marL="76339" marR="76339" marT="38170" marB="38170" anchor="ctr"/>
                </a:tc>
                <a:tc>
                  <a:txBody>
                    <a:bodyPr/>
                    <a:lstStyle/>
                    <a:p>
                      <a:pPr algn="l">
                        <a:buNone/>
                      </a:pPr>
                      <a:r>
                        <a:rPr lang="en-IN" sz="850" b="0"/>
                        <a:t>Hybrid model outperforms single models (lower MAE, MSE)</a:t>
                      </a:r>
                      <a:endParaRPr lang="en-IN" sz="850" b="0">
                        <a:latin typeface="Calibri"/>
                      </a:endParaRPr>
                    </a:p>
                  </a:txBody>
                  <a:tcPr marL="76339" marR="76339" marT="38170" marB="38170" anchor="ctr"/>
                </a:tc>
                <a:tc>
                  <a:txBody>
                    <a:bodyPr/>
                    <a:lstStyle/>
                    <a:p>
                      <a:pPr algn="l">
                        <a:buNone/>
                      </a:pPr>
                      <a:r>
                        <a:rPr lang="en-IN" sz="850" b="0"/>
                        <a:t>Demand forecasting only; no supplier-level disruption risk score or early warning</a:t>
                      </a:r>
                      <a:endParaRPr lang="en-IN" sz="850" b="0">
                        <a:latin typeface="Calibri"/>
                      </a:endParaRPr>
                    </a:p>
                  </a:txBody>
                  <a:tcPr marL="76339" marR="76339" marT="38170" marB="38170" anchor="ctr"/>
                </a:tc>
                <a:extLst>
                  <a:ext uri="{0D108BD9-81ED-4DB2-BD59-A6C34878D82A}">
                    <a16:rowId xmlns:a16="http://schemas.microsoft.com/office/drawing/2014/main" val="1020118778"/>
                  </a:ext>
                </a:extLst>
              </a:tr>
              <a:tr h="690479">
                <a:tc>
                  <a:txBody>
                    <a:bodyPr/>
                    <a:lstStyle/>
                    <a:p>
                      <a:pPr algn="ctr">
                        <a:buNone/>
                      </a:pPr>
                      <a:r>
                        <a:rPr sz="850" b="0"/>
                        <a:t>2</a:t>
                      </a:r>
                      <a:endParaRPr lang="en-IN" sz="1500" dirty="0"/>
                    </a:p>
                  </a:txBody>
                  <a:tcPr marL="76339" marR="76339" marT="38170" marB="38170" anchor="ctr"/>
                </a:tc>
                <a:tc>
                  <a:txBody>
                    <a:bodyPr/>
                    <a:lstStyle/>
                    <a:p>
                      <a:pPr algn="l">
                        <a:buNone/>
                      </a:pPr>
                      <a:r>
                        <a:rPr sz="850" b="0"/>
                        <a:t>Cognitive Supplier Risk Intelligence - CSRI (2026)</a:t>
                      </a:r>
                      <a:endParaRPr lang="en-IN" sz="1500"/>
                    </a:p>
                  </a:txBody>
                  <a:tcPr marL="76339" marR="76339" marT="38170" marB="38170" anchor="ctr"/>
                </a:tc>
                <a:tc>
                  <a:txBody>
                    <a:bodyPr/>
                    <a:lstStyle/>
                    <a:p>
                      <a:pPr algn="l">
                        <a:buNone/>
                      </a:pPr>
                      <a:r>
                        <a:rPr lang="en-IN" sz="900" dirty="0"/>
                        <a:t>Pandey, A.</a:t>
                      </a:r>
                      <a:endParaRPr lang="en-IN" sz="1500" dirty="0"/>
                    </a:p>
                  </a:txBody>
                  <a:tcPr marL="76339" marR="76339" marT="38170" marB="38170" anchor="ctr"/>
                </a:tc>
                <a:tc>
                  <a:txBody>
                    <a:bodyPr/>
                    <a:lstStyle/>
                    <a:p>
                      <a:pPr algn="l">
                        <a:buNone/>
                      </a:pPr>
                      <a:r>
                        <a:rPr sz="850" b="0" dirty="0"/>
                        <a:t>XGBoost-LSTM ensemble, Platt scaling, SHAP</a:t>
                      </a:r>
                      <a:endParaRPr lang="en-IN" sz="1500" dirty="0"/>
                    </a:p>
                  </a:txBody>
                  <a:tcPr marL="76339" marR="76339" marT="38170" marB="38170" anchor="ctr"/>
                </a:tc>
                <a:tc>
                  <a:txBody>
                    <a:bodyPr/>
                    <a:lstStyle/>
                    <a:p>
                      <a:pPr algn="l">
                        <a:buNone/>
                      </a:pPr>
                      <a:r>
                        <a:rPr sz="850" b="0" dirty="0"/>
                        <a:t>Calibrated 0-100 disruption scores with 90-day advance warning</a:t>
                      </a:r>
                      <a:endParaRPr lang="en-IN" sz="1500" dirty="0"/>
                    </a:p>
                  </a:txBody>
                  <a:tcPr marL="76339" marR="76339" marT="38170" marB="38170" anchor="ctr"/>
                </a:tc>
                <a:tc>
                  <a:txBody>
                    <a:bodyPr/>
                    <a:lstStyle/>
                    <a:p>
                      <a:pPr algn="l">
                        <a:buNone/>
                      </a:pPr>
                      <a:r>
                        <a:rPr sz="850" b="0"/>
                        <a:t>EV-procurement focus; no financial news sentiment; no interactive dashboard</a:t>
                      </a:r>
                      <a:endParaRPr lang="en-IN" sz="1500"/>
                    </a:p>
                  </a:txBody>
                  <a:tcPr marL="76339" marR="76339" marT="38170" marB="38170" anchor="ctr"/>
                </a:tc>
                <a:extLst>
                  <a:ext uri="{0D108BD9-81ED-4DB2-BD59-A6C34878D82A}">
                    <a16:rowId xmlns:a16="http://schemas.microsoft.com/office/drawing/2014/main" val="3985268322"/>
                  </a:ext>
                </a:extLst>
              </a:tr>
              <a:tr h="690479">
                <a:tc>
                  <a:txBody>
                    <a:bodyPr/>
                    <a:lstStyle/>
                    <a:p>
                      <a:pPr algn="ctr">
                        <a:buNone/>
                      </a:pPr>
                      <a:r>
                        <a:rPr sz="850" b="0"/>
                        <a:t>3</a:t>
                      </a:r>
                      <a:endParaRPr lang="en-IN" sz="1500"/>
                    </a:p>
                  </a:txBody>
                  <a:tcPr marL="76339" marR="76339" marT="38170" marB="38170" anchor="ctr"/>
                </a:tc>
                <a:tc>
                  <a:txBody>
                    <a:bodyPr/>
                    <a:lstStyle/>
                    <a:p>
                      <a:pPr algn="l">
                        <a:buNone/>
                      </a:pPr>
                      <a:r>
                        <a:rPr sz="850" b="0"/>
                        <a:t>Text-generated SC risks from news and social media (2023)</a:t>
                      </a:r>
                      <a:endParaRPr lang="en-IN" sz="1500"/>
                    </a:p>
                  </a:txBody>
                  <a:tcPr marL="76339" marR="76339" marT="38170" marB="38170" anchor="ctr"/>
                </a:tc>
                <a:tc>
                  <a:txBody>
                    <a:bodyPr/>
                    <a:lstStyle/>
                    <a:p>
                      <a:pPr algn="l">
                        <a:buNone/>
                      </a:pPr>
                      <a:r>
                        <a:rPr sz="850" b="0" dirty="0"/>
                        <a:t>Sadeek, S.N.; Hanaoka, S.</a:t>
                      </a:r>
                      <a:endParaRPr lang="en-IN" sz="1500" dirty="0"/>
                    </a:p>
                  </a:txBody>
                  <a:tcPr marL="76339" marR="76339" marT="38170" marB="38170" anchor="ctr"/>
                </a:tc>
                <a:tc>
                  <a:txBody>
                    <a:bodyPr/>
                    <a:lstStyle/>
                    <a:p>
                      <a:pPr algn="l">
                        <a:buNone/>
                      </a:pPr>
                      <a:r>
                        <a:rPr sz="850" b="0"/>
                        <a:t>LDA topic modeling, NLP sentiment, ordered probit</a:t>
                      </a:r>
                      <a:endParaRPr lang="en-IN" sz="1500"/>
                    </a:p>
                  </a:txBody>
                  <a:tcPr marL="76339" marR="76339" marT="38170" marB="38170" anchor="ctr"/>
                </a:tc>
                <a:tc>
                  <a:txBody>
                    <a:bodyPr/>
                    <a:lstStyle/>
                    <a:p>
                      <a:pPr algn="l">
                        <a:buNone/>
                      </a:pPr>
                      <a:r>
                        <a:rPr sz="850" b="0"/>
                        <a:t>Textual data captures risks before events actually occur</a:t>
                      </a:r>
                      <a:endParaRPr lang="en-IN" sz="1500" dirty="0"/>
                    </a:p>
                  </a:txBody>
                  <a:tcPr marL="76339" marR="76339" marT="38170" marB="38170" anchor="ctr"/>
                </a:tc>
                <a:tc>
                  <a:txBody>
                    <a:bodyPr/>
                    <a:lstStyle/>
                    <a:p>
                      <a:pPr algn="l">
                        <a:buNone/>
                      </a:pPr>
                      <a:r>
                        <a:rPr sz="850" b="0"/>
                        <a:t>Risk identification only; no financial indicators or prediction scoring</a:t>
                      </a:r>
                      <a:endParaRPr lang="en-IN" sz="1500" dirty="0"/>
                    </a:p>
                  </a:txBody>
                  <a:tcPr marL="76339" marR="76339" marT="38170" marB="38170" anchor="ctr"/>
                </a:tc>
                <a:extLst>
                  <a:ext uri="{0D108BD9-81ED-4DB2-BD59-A6C34878D82A}">
                    <a16:rowId xmlns:a16="http://schemas.microsoft.com/office/drawing/2014/main" val="1816177523"/>
                  </a:ext>
                </a:extLst>
              </a:tr>
              <a:tr h="690479">
                <a:tc>
                  <a:txBody>
                    <a:bodyPr/>
                    <a:lstStyle/>
                    <a:p>
                      <a:pPr algn="ctr">
                        <a:buNone/>
                      </a:pPr>
                      <a:r>
                        <a:rPr sz="850" b="0"/>
                        <a:t>4</a:t>
                      </a:r>
                      <a:endParaRPr lang="en-IN" sz="1500"/>
                    </a:p>
                  </a:txBody>
                  <a:tcPr marL="76339" marR="76339" marT="38170" marB="38170" anchor="ctr"/>
                </a:tc>
                <a:tc>
                  <a:txBody>
                    <a:bodyPr/>
                    <a:lstStyle/>
                    <a:p>
                      <a:pPr algn="l">
                        <a:buNone/>
                      </a:pPr>
                      <a:r>
                        <a:rPr sz="850" b="0" dirty="0"/>
                        <a:t>Supply chain risk measurement with LLMs (2025)</a:t>
                      </a:r>
                      <a:endParaRPr lang="en-IN" sz="1500" dirty="0"/>
                    </a:p>
                  </a:txBody>
                  <a:tcPr marL="76339" marR="76339" marT="38170" marB="38170" anchor="ctr"/>
                </a:tc>
                <a:tc>
                  <a:txBody>
                    <a:bodyPr/>
                    <a:lstStyle/>
                    <a:p>
                      <a:pPr algn="l">
                        <a:buNone/>
                      </a:pPr>
                      <a:r>
                        <a:rPr sz="850" b="0" dirty="0"/>
                        <a:t>Li, J.F.; Li, W.; Wei, X.; Xu, W.</a:t>
                      </a:r>
                      <a:endParaRPr lang="en-IN" sz="1500" dirty="0"/>
                    </a:p>
                  </a:txBody>
                  <a:tcPr marL="76339" marR="76339" marT="38170" marB="38170" anchor="ctr"/>
                </a:tc>
                <a:tc>
                  <a:txBody>
                    <a:bodyPr/>
                    <a:lstStyle/>
                    <a:p>
                      <a:pPr algn="l">
                        <a:buNone/>
                      </a:pPr>
                      <a:r>
                        <a:rPr sz="850" b="0"/>
                        <a:t>Zero-shot LLM prompting on corporate reports</a:t>
                      </a:r>
                      <a:endParaRPr lang="en-IN" sz="1500" dirty="0"/>
                    </a:p>
                  </a:txBody>
                  <a:tcPr marL="76339" marR="76339" marT="38170" marB="38170" anchor="ctr"/>
                </a:tc>
                <a:tc>
                  <a:txBody>
                    <a:bodyPr/>
                    <a:lstStyle/>
                    <a:p>
                      <a:pPr algn="l">
                        <a:buNone/>
                      </a:pPr>
                      <a:r>
                        <a:rPr sz="850" b="0"/>
                        <a:t>Fine-grained firm-level SCR index; supplier-customer risk correlation</a:t>
                      </a:r>
                      <a:endParaRPr lang="en-IN" sz="1500" dirty="0"/>
                    </a:p>
                  </a:txBody>
                  <a:tcPr marL="76339" marR="76339" marT="38170" marB="38170" anchor="ctr"/>
                </a:tc>
                <a:tc>
                  <a:txBody>
                    <a:bodyPr/>
                    <a:lstStyle/>
                    <a:p>
                      <a:pPr algn="l">
                        <a:buNone/>
                      </a:pPr>
                      <a:r>
                        <a:rPr sz="850" b="0"/>
                        <a:t>Measures risk but does not predict disruptions; no 90-day early warning</a:t>
                      </a:r>
                      <a:endParaRPr lang="en-IN" sz="1500" dirty="0"/>
                    </a:p>
                  </a:txBody>
                  <a:tcPr marL="76339" marR="76339" marT="38170" marB="38170" anchor="ctr"/>
                </a:tc>
                <a:extLst>
                  <a:ext uri="{0D108BD9-81ED-4DB2-BD59-A6C34878D82A}">
                    <a16:rowId xmlns:a16="http://schemas.microsoft.com/office/drawing/2014/main" val="864071143"/>
                  </a:ext>
                </a:extLst>
              </a:tr>
              <a:tr h="690479">
                <a:tc>
                  <a:txBody>
                    <a:bodyPr/>
                    <a:lstStyle/>
                    <a:p>
                      <a:pPr algn="ctr">
                        <a:buNone/>
                      </a:pPr>
                      <a:r>
                        <a:rPr sz="850" b="0"/>
                        <a:t>5</a:t>
                      </a:r>
                      <a:endParaRPr lang="en-IN" sz="1500"/>
                    </a:p>
                  </a:txBody>
                  <a:tcPr marL="76339" marR="76339" marT="38170" marB="38170" anchor="ctr"/>
                </a:tc>
                <a:tc>
                  <a:txBody>
                    <a:bodyPr/>
                    <a:lstStyle/>
                    <a:p>
                      <a:pPr algn="l">
                        <a:buNone/>
                      </a:pPr>
                      <a:r>
                        <a:rPr sz="850" b="0" dirty="0"/>
                        <a:t>AI-powered supplier risk intelligence (2025)</a:t>
                      </a:r>
                      <a:endParaRPr lang="en-IN" sz="1500" dirty="0"/>
                    </a:p>
                  </a:txBody>
                  <a:tcPr marL="76339" marR="76339" marT="38170" marB="38170" anchor="ctr"/>
                </a:tc>
                <a:tc>
                  <a:txBody>
                    <a:bodyPr/>
                    <a:lstStyle/>
                    <a:p>
                      <a:pPr algn="l">
                        <a:buNone/>
                      </a:pPr>
                      <a:r>
                        <a:rPr sz="850" b="0"/>
                        <a:t>Iqbal, U.</a:t>
                      </a:r>
                      <a:endParaRPr lang="en-IN" sz="1500"/>
                    </a:p>
                  </a:txBody>
                  <a:tcPr marL="76339" marR="76339" marT="38170" marB="38170" anchor="ctr"/>
                </a:tc>
                <a:tc>
                  <a:txBody>
                    <a:bodyPr/>
                    <a:lstStyle/>
                    <a:p>
                      <a:pPr algn="l">
                        <a:buNone/>
                      </a:pPr>
                      <a:r>
                        <a:rPr sz="850" b="0" dirty="0"/>
                        <a:t>XGBoost (financial distress) + BERT (geopolitical)</a:t>
                      </a:r>
                      <a:endParaRPr lang="en-IN" sz="1500" dirty="0"/>
                    </a:p>
                  </a:txBody>
                  <a:tcPr marL="76339" marR="76339" marT="38170" marB="38170" anchor="ctr"/>
                </a:tc>
                <a:tc>
                  <a:txBody>
                    <a:bodyPr/>
                    <a:lstStyle/>
                    <a:p>
                      <a:pPr algn="l">
                        <a:buNone/>
                      </a:pPr>
                      <a:r>
                        <a:rPr sz="850" b="0"/>
                        <a:t>89% distress accuracy; 3.4-month lead time; $2.45B loss avoided (energy)</a:t>
                      </a:r>
                      <a:endParaRPr lang="en-IN" sz="1500"/>
                    </a:p>
                  </a:txBody>
                  <a:tcPr marL="76339" marR="76339" marT="38170" marB="38170" anchor="ctr"/>
                </a:tc>
                <a:tc>
                  <a:txBody>
                    <a:bodyPr/>
                    <a:lstStyle/>
                    <a:p>
                      <a:pPr algn="l">
                        <a:buNone/>
                      </a:pPr>
                      <a:r>
                        <a:rPr sz="850" b="0" dirty="0"/>
                        <a:t>U.S.-centric; BERT not FinBERT; no dashboard or 90-day sentiment LSTM</a:t>
                      </a:r>
                      <a:endParaRPr lang="en-IN" sz="1500" dirty="0"/>
                    </a:p>
                  </a:txBody>
                  <a:tcPr marL="76339" marR="76339" marT="38170" marB="38170" anchor="ctr"/>
                </a:tc>
                <a:extLst>
                  <a:ext uri="{0D108BD9-81ED-4DB2-BD59-A6C34878D82A}">
                    <a16:rowId xmlns:a16="http://schemas.microsoft.com/office/drawing/2014/main" val="1493651099"/>
                  </a:ext>
                </a:extLst>
              </a:tr>
            </a:tbl>
          </a:graphicData>
        </a:graphic>
      </p:graphicFrame>
      <p:sp>
        <p:nvSpPr>
          <p:cNvPr id="11" name="Footer Placeholder 2">
            <a:extLst>
              <a:ext uri="{FF2B5EF4-FFF2-40B4-BE49-F238E27FC236}">
                <a16:creationId xmlns:a16="http://schemas.microsoft.com/office/drawing/2014/main" id="{1A2691C9-D5FC-4B5D-BC2B-27DFE115B382}"/>
              </a:ext>
            </a:extLst>
          </p:cNvPr>
          <p:cNvSpPr>
            <a:spLocks noGrp="1"/>
          </p:cNvSpPr>
          <p:nvPr>
            <p:ph type="ftr" sz="quarter" idx="11"/>
          </p:nvPr>
        </p:nvSpPr>
        <p:spPr>
          <a:xfrm>
            <a:off x="4038600" y="7968343"/>
            <a:ext cx="4114800" cy="184066"/>
          </a:xfrm>
        </p:spPr>
        <p:txBody>
          <a:bodyPr/>
          <a:lstStyle/>
          <a:p>
            <a:endParaRPr lang="en-US" dirty="0"/>
          </a:p>
        </p:txBody>
      </p:sp>
    </p:spTree>
    <p:extLst>
      <p:ext uri="{BB962C8B-B14F-4D97-AF65-F5344CB8AC3E}">
        <p14:creationId xmlns:p14="http://schemas.microsoft.com/office/powerpoint/2010/main" val="2762340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normAutofit/>
          </a:bodyPr>
          <a:lstStyle/>
          <a:p>
            <a:pPr algn="ctr"/>
            <a:r>
              <a:rPr lang="en-IN" sz="2400" b="1" dirty="0">
                <a:latin typeface="Times New Roman" panose="02020603050405020304" pitchFamily="18" charset="0"/>
                <a:cs typeface="Times New Roman" panose="02020603050405020304" pitchFamily="18" charset="0"/>
              </a:rPr>
              <a:t>Innovation, Creativity, and Novelty</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r>
              <a:rPr lang="en-US" dirty="0"/>
              <a:t>21.08.2026		</a:t>
            </a:r>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4" name="TextBox 3">
            <a:extLst>
              <a:ext uri="{FF2B5EF4-FFF2-40B4-BE49-F238E27FC236}">
                <a16:creationId xmlns:a16="http://schemas.microsoft.com/office/drawing/2014/main" id="{51EFC2A6-D5E1-4B0E-EBA1-4D4D15920815}"/>
              </a:ext>
            </a:extLst>
          </p:cNvPr>
          <p:cNvSpPr txBox="1"/>
          <p:nvPr/>
        </p:nvSpPr>
        <p:spPr>
          <a:xfrm>
            <a:off x="600616" y="1250731"/>
            <a:ext cx="10840270" cy="3970318"/>
          </a:xfrm>
          <a:prstGeom prst="rect">
            <a:avLst/>
          </a:prstGeom>
          <a:noFill/>
        </p:spPr>
        <p:txBody>
          <a:bodyPr wrap="square">
            <a:spAutoFit/>
          </a:bodyPr>
          <a:lstStyle/>
          <a:p>
            <a:pPr>
              <a:buNone/>
            </a:pPr>
            <a:r>
              <a:rPr lang="en-IN" b="1" dirty="0">
                <a:latin typeface="Times New Roman" panose="02020603050405020304" pitchFamily="18" charset="0"/>
                <a:cs typeface="Times New Roman" panose="02020603050405020304" pitchFamily="18" charset="0"/>
              </a:rPr>
              <a:t>Innovation</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Unified multi-signal supplier risk framework combining financial indicators (XGBoost) and financial-news sentiment (FinBERT-LSTM) into a single calibrated 90-day early-warning risk score - a combination absent from all 13 papers reviewed.</a:t>
            </a:r>
          </a:p>
          <a:p>
            <a:pPr marL="342900" lvl="0" indent="-34290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Creativity</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Composite risk scoring from financial factors (revenue, debt, leverage, current ratio, financial stability) fused with news sentiment organized into 90-day sequences, processed at scale with Azure and PySpark, and delivered through an interactive Power BI dashboard with low, medium and high risk tiers.</a:t>
            </a:r>
          </a:p>
          <a:p>
            <a:pPr>
              <a:buNone/>
            </a:pPr>
            <a:endParaRPr lang="en-IN" b="1" dirty="0">
              <a:latin typeface="Times New Roman" panose="02020603050405020304" pitchFamily="18" charset="0"/>
              <a:cs typeface="Times New Roman" panose="02020603050405020304" pitchFamily="18" charset="0"/>
            </a:endParaRPr>
          </a:p>
          <a:p>
            <a:pPr>
              <a:buNone/>
            </a:pPr>
            <a:r>
              <a:rPr lang="en-IN" b="1" dirty="0">
                <a:latin typeface="Times New Roman" panose="02020603050405020304" pitchFamily="18" charset="0"/>
                <a:cs typeface="Times New Roman" panose="02020603050405020304" pitchFamily="18" charset="0"/>
              </a:rPr>
              <a:t>Novelty</a:t>
            </a:r>
          </a:p>
          <a:p>
            <a:pPr marL="342900" lvl="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Addresses the research gap that no reviewed paper combines financial + news-signal fusion, calibrated 90-day early warning, cloud big-data processing (Azure/PySpark), and an interactive Power BI dashboard in a single supplier-level risk prediction system.</a:t>
            </a:r>
          </a:p>
        </p:txBody>
      </p:sp>
      <p:sp>
        <p:nvSpPr>
          <p:cNvPr id="11" name="Footer Placeholder 2">
            <a:extLst>
              <a:ext uri="{FF2B5EF4-FFF2-40B4-BE49-F238E27FC236}">
                <a16:creationId xmlns:a16="http://schemas.microsoft.com/office/drawing/2014/main" id="{444AC3EB-3F86-4AA5-854B-7AEEB8EE2B29}"/>
              </a:ext>
            </a:extLst>
          </p:cNvPr>
          <p:cNvSpPr>
            <a:spLocks noGrp="1"/>
          </p:cNvSpPr>
          <p:nvPr>
            <p:ph type="ftr" sz="quarter" idx="11"/>
          </p:nvPr>
        </p:nvSpPr>
        <p:spPr>
          <a:xfrm>
            <a:off x="4038600" y="6356350"/>
            <a:ext cx="4114800" cy="365125"/>
          </a:xfrm>
        </p:spPr>
        <p:txBody>
          <a:bodyPr/>
          <a:lstStyle/>
          <a:p>
            <a:r>
              <a:rPr lang="en-US" dirty="0"/>
              <a:t>PRC-I</a:t>
            </a:r>
          </a:p>
        </p:txBody>
      </p:sp>
    </p:spTree>
    <p:extLst>
      <p:ext uri="{BB962C8B-B14F-4D97-AF65-F5344CB8AC3E}">
        <p14:creationId xmlns:p14="http://schemas.microsoft.com/office/powerpoint/2010/main" val="3350041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normAutofit/>
          </a:bodyPr>
          <a:lstStyle/>
          <a:p>
            <a:pPr algn="ctr"/>
            <a:r>
              <a:rPr lang="en-IN" sz="3200" b="1" dirty="0">
                <a:latin typeface="Times New Roman" panose="02020603050405020304" pitchFamily="18" charset="0"/>
                <a:cs typeface="Times New Roman" panose="02020603050405020304" pitchFamily="18" charset="0"/>
              </a:rPr>
              <a:t>Feasibility and Project Plan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a:bodyPr>
          <a:lstStyle/>
          <a:p>
            <a:pPr eaLnBrk="0" fontAlgn="base" hangingPunct="0">
              <a:lnSpc>
                <a:spcPct val="100000"/>
              </a:lnSpc>
              <a:spcBef>
                <a:spcPct val="0"/>
              </a:spcBef>
              <a:spcAft>
                <a:spcPct val="0"/>
              </a:spcAft>
            </a:pPr>
            <a:endParaRPr lang="en-US" sz="2000" dirty="0"/>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3" name="TextBox 2">
            <a:extLst>
              <a:ext uri="{FF2B5EF4-FFF2-40B4-BE49-F238E27FC236}">
                <a16:creationId xmlns:a16="http://schemas.microsoft.com/office/drawing/2014/main" id="{2CD0C162-AAFF-57D0-C6FC-922499511FB9}"/>
              </a:ext>
            </a:extLst>
          </p:cNvPr>
          <p:cNvSpPr txBox="1"/>
          <p:nvPr/>
        </p:nvSpPr>
        <p:spPr>
          <a:xfrm>
            <a:off x="994611" y="2009408"/>
            <a:ext cx="9224210" cy="1631216"/>
          </a:xfrm>
          <a:prstGeom prst="rect">
            <a:avLst/>
          </a:prstGeom>
          <a:noFill/>
        </p:spPr>
        <p:txBody>
          <a:bodyPr wrap="square" rtlCol="0">
            <a:spAutoFit/>
          </a:bodyPr>
          <a:lstStyle/>
          <a:p>
            <a:pPr algn="just"/>
            <a:r>
              <a:rPr lang="en-IN" sz="1600" b="1" dirty="0">
                <a:latin typeface="Times New Roman" panose="02020603050405020304" pitchFamily="18" charset="0"/>
                <a:cs typeface="Times New Roman" panose="02020603050405020304" pitchFamily="18" charset="0"/>
              </a:rPr>
              <a:t>Feasibility:</a:t>
            </a:r>
            <a:r>
              <a:rPr lang="en-IN" sz="1600" b="0" dirty="0">
                <a:latin typeface="Times New Roman" panose="02020603050405020304" pitchFamily="18" charset="0"/>
                <a:cs typeface="Times New Roman" panose="02020603050405020304" pitchFamily="18" charset="0"/>
              </a:rPr>
              <a:t> The project uses Microsoft Azure cloud services, publicly available supplier financial and news datasets, and open-source tools (Apache Spark/PySpark, XGBoost, FinBERT, LSTM, Power BI). All resources are accessible to a team of 3 members across the academic calendar, making the project technically and operationally feasible within the available timeline.</a:t>
            </a:r>
          </a:p>
          <a:p>
            <a:pPr algn="just"/>
            <a:br>
              <a:rPr lang="en-IN" sz="1600" dirty="0">
                <a:latin typeface="Times New Roman" panose="02020603050405020304" pitchFamily="18" charset="0"/>
                <a:cs typeface="Times New Roman" panose="02020603050405020304" pitchFamily="18" charset="0"/>
              </a:rPr>
            </a:br>
            <a:r>
              <a:rPr lang="en-IN" sz="1600" b="1" dirty="0">
                <a:latin typeface="Times New Roman" panose="02020603050405020304" pitchFamily="18" charset="0"/>
                <a:cs typeface="Times New Roman" panose="02020603050405020304" pitchFamily="18" charset="0"/>
              </a:rPr>
              <a:t>Project Plan:</a:t>
            </a:r>
            <a:r>
              <a:rPr lang="en-IN" sz="1600" b="0" dirty="0">
                <a:latin typeface="Times New Roman" panose="02020603050405020304" pitchFamily="18" charset="0"/>
                <a:cs typeface="Times New Roman" panose="02020603050405020304" pitchFamily="18" charset="0"/>
              </a:rPr>
              <a:t> The timeline below follows the official PRC review calendar.</a:t>
            </a:r>
          </a:p>
        </p:txBody>
      </p:sp>
      <p:sp>
        <p:nvSpPr>
          <p:cNvPr id="11" name="Footer Placeholder 2">
            <a:extLst>
              <a:ext uri="{FF2B5EF4-FFF2-40B4-BE49-F238E27FC236}">
                <a16:creationId xmlns:a16="http://schemas.microsoft.com/office/drawing/2014/main" id="{85505740-31D0-4B8F-B93F-9E8CA50A42B9}"/>
              </a:ext>
            </a:extLst>
          </p:cNvPr>
          <p:cNvSpPr>
            <a:spLocks noGrp="1"/>
          </p:cNvSpPr>
          <p:nvPr>
            <p:ph type="ftr" sz="quarter" idx="11"/>
          </p:nvPr>
        </p:nvSpPr>
        <p:spPr>
          <a:xfrm>
            <a:off x="4038600" y="6356350"/>
            <a:ext cx="4114800" cy="365125"/>
          </a:xfrm>
        </p:spPr>
        <p:txBody>
          <a:bodyPr/>
          <a:lstStyle/>
          <a:p>
            <a:r>
              <a:rPr lang="en-US" dirty="0"/>
              <a:t>PRC-I    </a:t>
            </a:r>
          </a:p>
        </p:txBody>
      </p:sp>
      <p:graphicFrame>
        <p:nvGraphicFramePr>
          <p:cNvPr id="12" name="Table 11"/>
          <p:cNvGraphicFramePr>
            <a:graphicFrameLocks noGrp="1"/>
          </p:cNvGraphicFramePr>
          <p:nvPr>
            <p:extLst>
              <p:ext uri="{D42A27DB-BD31-4B8C-83A1-F6EECF244321}">
                <p14:modId xmlns:p14="http://schemas.microsoft.com/office/powerpoint/2010/main" val="3748374267"/>
              </p:ext>
            </p:extLst>
          </p:nvPr>
        </p:nvGraphicFramePr>
        <p:xfrm>
          <a:off x="457200" y="4106384"/>
          <a:ext cx="10994571" cy="2522406"/>
        </p:xfrm>
        <a:graphic>
          <a:graphicData uri="http://schemas.openxmlformats.org/drawingml/2006/table">
            <a:tbl>
              <a:tblPr firstRow="1" bandRow="1">
                <a:tableStyleId>{5C22544A-7EE6-4342-B048-85BDC9FD1C3A}</a:tableStyleId>
              </a:tblPr>
              <a:tblGrid>
                <a:gridCol w="1816494">
                  <a:extLst>
                    <a:ext uri="{9D8B030D-6E8A-4147-A177-3AD203B41FA5}">
                      <a16:colId xmlns:a16="http://schemas.microsoft.com/office/drawing/2014/main" val="20000"/>
                    </a:ext>
                  </a:extLst>
                </a:gridCol>
                <a:gridCol w="2963754">
                  <a:extLst>
                    <a:ext uri="{9D8B030D-6E8A-4147-A177-3AD203B41FA5}">
                      <a16:colId xmlns:a16="http://schemas.microsoft.com/office/drawing/2014/main" val="20001"/>
                    </a:ext>
                  </a:extLst>
                </a:gridCol>
                <a:gridCol w="6214323">
                  <a:extLst>
                    <a:ext uri="{9D8B030D-6E8A-4147-A177-3AD203B41FA5}">
                      <a16:colId xmlns:a16="http://schemas.microsoft.com/office/drawing/2014/main" val="20002"/>
                    </a:ext>
                  </a:extLst>
                </a:gridCol>
              </a:tblGrid>
              <a:tr h="396426">
                <a:tc>
                  <a:txBody>
                    <a:bodyPr/>
                    <a:lstStyle/>
                    <a:p>
                      <a:pPr algn="l"/>
                      <a:r>
                        <a:rPr sz="950" b="1">
                          <a:solidFill>
                            <a:srgbClr val="FFFFFF"/>
                          </a:solidFill>
                          <a:latin typeface="Calibri"/>
                        </a:rPr>
                        <a:t>Date</a:t>
                      </a:r>
                    </a:p>
                  </a:txBody>
                  <a:tcPr>
                    <a:solidFill>
                      <a:srgbClr val="1B2A55"/>
                    </a:solidFill>
                  </a:tcPr>
                </a:tc>
                <a:tc>
                  <a:txBody>
                    <a:bodyPr/>
                    <a:lstStyle/>
                    <a:p>
                      <a:pPr algn="l"/>
                      <a:r>
                        <a:rPr sz="950" b="1" dirty="0">
                          <a:solidFill>
                            <a:srgbClr val="FFFFFF"/>
                          </a:solidFill>
                          <a:latin typeface="Calibri"/>
                        </a:rPr>
                        <a:t>Milestone</a:t>
                      </a:r>
                    </a:p>
                  </a:txBody>
                  <a:tcPr>
                    <a:solidFill>
                      <a:srgbClr val="1B2A55"/>
                    </a:solidFill>
                  </a:tcPr>
                </a:tc>
                <a:tc>
                  <a:txBody>
                    <a:bodyPr/>
                    <a:lstStyle/>
                    <a:p>
                      <a:pPr algn="l"/>
                      <a:r>
                        <a:rPr sz="950" b="1" dirty="0">
                          <a:solidFill>
                            <a:srgbClr val="FFFFFF"/>
                          </a:solidFill>
                          <a:latin typeface="Calibri"/>
                        </a:rPr>
                        <a:t>Our Team's Focus</a:t>
                      </a:r>
                    </a:p>
                  </a:txBody>
                  <a:tcPr>
                    <a:solidFill>
                      <a:srgbClr val="1B2A55"/>
                    </a:solidFill>
                  </a:tcPr>
                </a:tc>
                <a:extLst>
                  <a:ext uri="{0D108BD9-81ED-4DB2-BD59-A6C34878D82A}">
                    <a16:rowId xmlns:a16="http://schemas.microsoft.com/office/drawing/2014/main" val="10000"/>
                  </a:ext>
                </a:extLst>
              </a:tr>
              <a:tr h="221118">
                <a:tc>
                  <a:txBody>
                    <a:bodyPr/>
                    <a:lstStyle/>
                    <a:p>
                      <a:pPr algn="l"/>
                      <a:r>
                        <a:rPr sz="950" b="0">
                          <a:latin typeface="Calibri"/>
                        </a:rPr>
                        <a:t>17-21 Aug 2026</a:t>
                      </a:r>
                    </a:p>
                  </a:txBody>
                  <a:tcPr/>
                </a:tc>
                <a:tc>
                  <a:txBody>
                    <a:bodyPr/>
                    <a:lstStyle/>
                    <a:p>
                      <a:pPr algn="l"/>
                      <a:r>
                        <a:rPr sz="950" b="0">
                          <a:latin typeface="Calibri"/>
                        </a:rPr>
                        <a:t>-</a:t>
                      </a:r>
                    </a:p>
                  </a:txBody>
                  <a:tcPr/>
                </a:tc>
                <a:tc>
                  <a:txBody>
                    <a:bodyPr/>
                    <a:lstStyle/>
                    <a:p>
                      <a:pPr algn="l"/>
                      <a:r>
                        <a:rPr sz="950" b="0">
                          <a:latin typeface="Calibri"/>
                        </a:rPr>
                        <a:t>Finalize dataset and feasibility study; prepare PRC-1 submission</a:t>
                      </a:r>
                    </a:p>
                  </a:txBody>
                  <a:tcPr/>
                </a:tc>
                <a:extLst>
                  <a:ext uri="{0D108BD9-81ED-4DB2-BD59-A6C34878D82A}">
                    <a16:rowId xmlns:a16="http://schemas.microsoft.com/office/drawing/2014/main" val="10001"/>
                  </a:ext>
                </a:extLst>
              </a:tr>
              <a:tr h="221118">
                <a:tc>
                  <a:txBody>
                    <a:bodyPr/>
                    <a:lstStyle/>
                    <a:p>
                      <a:pPr algn="l"/>
                      <a:r>
                        <a:rPr sz="950" b="0">
                          <a:latin typeface="Calibri"/>
                        </a:rPr>
                        <a:t>22 Aug 2026 (Sat)</a:t>
                      </a:r>
                    </a:p>
                  </a:txBody>
                  <a:tcPr/>
                </a:tc>
                <a:tc>
                  <a:txBody>
                    <a:bodyPr/>
                    <a:lstStyle/>
                    <a:p>
                      <a:pPr algn="l"/>
                      <a:r>
                        <a:rPr sz="950" b="0">
                          <a:latin typeface="Calibri"/>
                        </a:rPr>
                        <a:t>PRC-I</a:t>
                      </a:r>
                    </a:p>
                  </a:txBody>
                  <a:tcPr/>
                </a:tc>
                <a:tc>
                  <a:txBody>
                    <a:bodyPr/>
                    <a:lstStyle/>
                    <a:p>
                      <a:pPr algn="l"/>
                      <a:r>
                        <a:rPr sz="950" b="0">
                          <a:latin typeface="Calibri"/>
                        </a:rPr>
                        <a:t>PRC-I Review by HOD, Coordinator, Panel Member, and Guide</a:t>
                      </a:r>
                    </a:p>
                  </a:txBody>
                  <a:tcPr/>
                </a:tc>
                <a:extLst>
                  <a:ext uri="{0D108BD9-81ED-4DB2-BD59-A6C34878D82A}">
                    <a16:rowId xmlns:a16="http://schemas.microsoft.com/office/drawing/2014/main" val="10002"/>
                  </a:ext>
                </a:extLst>
              </a:tr>
              <a:tr h="221118">
                <a:tc>
                  <a:txBody>
                    <a:bodyPr/>
                    <a:lstStyle/>
                    <a:p>
                      <a:pPr algn="l"/>
                      <a:r>
                        <a:rPr sz="950" b="0">
                          <a:latin typeface="Calibri"/>
                        </a:rPr>
                        <a:t>23 Aug - 4 Sep 2026</a:t>
                      </a:r>
                    </a:p>
                  </a:txBody>
                  <a:tcPr/>
                </a:tc>
                <a:tc>
                  <a:txBody>
                    <a:bodyPr/>
                    <a:lstStyle/>
                    <a:p>
                      <a:pPr algn="l"/>
                      <a:r>
                        <a:rPr sz="950" b="0">
                          <a:latin typeface="Calibri"/>
                        </a:rPr>
                        <a:t>Guide reviews: 29 Aug, 5 Sep</a:t>
                      </a:r>
                    </a:p>
                  </a:txBody>
                  <a:tcPr/>
                </a:tc>
                <a:tc>
                  <a:txBody>
                    <a:bodyPr/>
                    <a:lstStyle/>
                    <a:p>
                      <a:pPr algn="l"/>
                      <a:r>
                        <a:rPr sz="950" b="0">
                          <a:latin typeface="Calibri"/>
                        </a:rPr>
                        <a:t>PySpark data cleaning and feature engineering on Azure</a:t>
                      </a:r>
                    </a:p>
                  </a:txBody>
                  <a:tcPr/>
                </a:tc>
                <a:extLst>
                  <a:ext uri="{0D108BD9-81ED-4DB2-BD59-A6C34878D82A}">
                    <a16:rowId xmlns:a16="http://schemas.microsoft.com/office/drawing/2014/main" val="10003"/>
                  </a:ext>
                </a:extLst>
              </a:tr>
              <a:tr h="221118">
                <a:tc>
                  <a:txBody>
                    <a:bodyPr/>
                    <a:lstStyle/>
                    <a:p>
                      <a:pPr algn="l"/>
                      <a:r>
                        <a:rPr sz="950" b="0">
                          <a:latin typeface="Calibri"/>
                        </a:rPr>
                        <a:t>12 Sep 2026 (Sat)</a:t>
                      </a:r>
                    </a:p>
                  </a:txBody>
                  <a:tcPr/>
                </a:tc>
                <a:tc>
                  <a:txBody>
                    <a:bodyPr/>
                    <a:lstStyle/>
                    <a:p>
                      <a:pPr algn="l"/>
                      <a:r>
                        <a:rPr sz="950" b="0">
                          <a:latin typeface="Calibri"/>
                        </a:rPr>
                        <a:t>PRC-II</a:t>
                      </a:r>
                    </a:p>
                  </a:txBody>
                  <a:tcPr/>
                </a:tc>
                <a:tc>
                  <a:txBody>
                    <a:bodyPr/>
                    <a:lstStyle/>
                    <a:p>
                      <a:pPr algn="l"/>
                      <a:r>
                        <a:rPr sz="950" b="0">
                          <a:latin typeface="Calibri"/>
                        </a:rPr>
                        <a:t>PRC-II Review - XGBoost financial risk model presented</a:t>
                      </a:r>
                    </a:p>
                  </a:txBody>
                  <a:tcPr/>
                </a:tc>
                <a:extLst>
                  <a:ext uri="{0D108BD9-81ED-4DB2-BD59-A6C34878D82A}">
                    <a16:rowId xmlns:a16="http://schemas.microsoft.com/office/drawing/2014/main" val="10004"/>
                  </a:ext>
                </a:extLst>
              </a:tr>
              <a:tr h="221118">
                <a:tc>
                  <a:txBody>
                    <a:bodyPr/>
                    <a:lstStyle/>
                    <a:p>
                      <a:pPr algn="l"/>
                      <a:r>
                        <a:rPr sz="950" b="0">
                          <a:latin typeface="Calibri"/>
                        </a:rPr>
                        <a:t>13 Sep - 9 Oct 2026</a:t>
                      </a:r>
                    </a:p>
                  </a:txBody>
                  <a:tcPr/>
                </a:tc>
                <a:tc>
                  <a:txBody>
                    <a:bodyPr/>
                    <a:lstStyle/>
                    <a:p>
                      <a:pPr algn="l"/>
                      <a:r>
                        <a:rPr sz="950" b="0" dirty="0">
                          <a:latin typeface="Calibri"/>
                        </a:rPr>
                        <a:t>Guide reviews: 19, 26 Sep, 3 Oct</a:t>
                      </a:r>
                    </a:p>
                  </a:txBody>
                  <a:tcPr/>
                </a:tc>
                <a:tc>
                  <a:txBody>
                    <a:bodyPr/>
                    <a:lstStyle/>
                    <a:p>
                      <a:pPr algn="l"/>
                      <a:r>
                        <a:rPr sz="950" b="0">
                          <a:latin typeface="Calibri"/>
                        </a:rPr>
                        <a:t>FinBERT sentiment and LSTM 90-day sequence training</a:t>
                      </a:r>
                    </a:p>
                  </a:txBody>
                  <a:tcPr/>
                </a:tc>
                <a:extLst>
                  <a:ext uri="{0D108BD9-81ED-4DB2-BD59-A6C34878D82A}">
                    <a16:rowId xmlns:a16="http://schemas.microsoft.com/office/drawing/2014/main" val="10005"/>
                  </a:ext>
                </a:extLst>
              </a:tr>
              <a:tr h="221118">
                <a:tc>
                  <a:txBody>
                    <a:bodyPr/>
                    <a:lstStyle/>
                    <a:p>
                      <a:pPr algn="l"/>
                      <a:r>
                        <a:rPr sz="950" b="0">
                          <a:latin typeface="Calibri"/>
                        </a:rPr>
                        <a:t>10 Oct 2026 (Sat)</a:t>
                      </a:r>
                    </a:p>
                  </a:txBody>
                  <a:tcPr/>
                </a:tc>
                <a:tc>
                  <a:txBody>
                    <a:bodyPr/>
                    <a:lstStyle/>
                    <a:p>
                      <a:pPr algn="l"/>
                      <a:r>
                        <a:rPr sz="950" b="0">
                          <a:latin typeface="Calibri"/>
                        </a:rPr>
                        <a:t>PRC-III</a:t>
                      </a:r>
                    </a:p>
                  </a:txBody>
                  <a:tcPr/>
                </a:tc>
                <a:tc>
                  <a:txBody>
                    <a:bodyPr/>
                    <a:lstStyle/>
                    <a:p>
                      <a:pPr algn="l"/>
                      <a:r>
                        <a:rPr sz="950" b="0">
                          <a:latin typeface="Calibri"/>
                        </a:rPr>
                        <a:t>PRC-III Review - integrated risk scoring and Power BI dashboard demo</a:t>
                      </a:r>
                    </a:p>
                  </a:txBody>
                  <a:tcPr/>
                </a:tc>
                <a:extLst>
                  <a:ext uri="{0D108BD9-81ED-4DB2-BD59-A6C34878D82A}">
                    <a16:rowId xmlns:a16="http://schemas.microsoft.com/office/drawing/2014/main" val="10006"/>
                  </a:ext>
                </a:extLst>
              </a:tr>
              <a:tr h="221118">
                <a:tc>
                  <a:txBody>
                    <a:bodyPr/>
                    <a:lstStyle/>
                    <a:p>
                      <a:pPr algn="l"/>
                      <a:r>
                        <a:rPr sz="950" b="0">
                          <a:latin typeface="Calibri"/>
                        </a:rPr>
                        <a:t>11-30 Oct 2026</a:t>
                      </a:r>
                    </a:p>
                  </a:txBody>
                  <a:tcPr/>
                </a:tc>
                <a:tc>
                  <a:txBody>
                    <a:bodyPr/>
                    <a:lstStyle/>
                    <a:p>
                      <a:pPr algn="l"/>
                      <a:r>
                        <a:rPr sz="950" b="0">
                          <a:latin typeface="Calibri"/>
                        </a:rPr>
                        <a:t>Guide monitoring: 17 Oct</a:t>
                      </a:r>
                    </a:p>
                  </a:txBody>
                  <a:tcPr/>
                </a:tc>
                <a:tc>
                  <a:txBody>
                    <a:bodyPr/>
                    <a:lstStyle/>
                    <a:p>
                      <a:pPr algn="l"/>
                      <a:r>
                        <a:rPr sz="950" b="0">
                          <a:latin typeface="Calibri"/>
                        </a:rPr>
                        <a:t>Final evaluation, dashboard enhancement, documentation</a:t>
                      </a:r>
                    </a:p>
                  </a:txBody>
                  <a:tcPr/>
                </a:tc>
                <a:extLst>
                  <a:ext uri="{0D108BD9-81ED-4DB2-BD59-A6C34878D82A}">
                    <a16:rowId xmlns:a16="http://schemas.microsoft.com/office/drawing/2014/main" val="10007"/>
                  </a:ext>
                </a:extLst>
              </a:tr>
              <a:tr h="221118">
                <a:tc>
                  <a:txBody>
                    <a:bodyPr/>
                    <a:lstStyle/>
                    <a:p>
                      <a:pPr algn="l"/>
                      <a:r>
                        <a:rPr sz="950" b="0">
                          <a:latin typeface="Calibri"/>
                        </a:rPr>
                        <a:t>31 Oct 2026 (Sat)</a:t>
                      </a:r>
                    </a:p>
                  </a:txBody>
                  <a:tcPr/>
                </a:tc>
                <a:tc>
                  <a:txBody>
                    <a:bodyPr/>
                    <a:lstStyle/>
                    <a:p>
                      <a:pPr algn="l"/>
                      <a:r>
                        <a:rPr sz="950" b="0">
                          <a:latin typeface="Calibri"/>
                        </a:rPr>
                        <a:t>Submission</a:t>
                      </a:r>
                    </a:p>
                  </a:txBody>
                  <a:tcPr/>
                </a:tc>
                <a:tc>
                  <a:txBody>
                    <a:bodyPr/>
                    <a:lstStyle/>
                    <a:p>
                      <a:pPr algn="l"/>
                      <a:r>
                        <a:rPr sz="950" b="0">
                          <a:latin typeface="Calibri"/>
                        </a:rPr>
                        <a:t>Project report, GitHub repository, Azure resource cleanup</a:t>
                      </a:r>
                    </a:p>
                  </a:txBody>
                  <a:tcPr/>
                </a:tc>
                <a:extLst>
                  <a:ext uri="{0D108BD9-81ED-4DB2-BD59-A6C34878D82A}">
                    <a16:rowId xmlns:a16="http://schemas.microsoft.com/office/drawing/2014/main" val="10008"/>
                  </a:ext>
                </a:extLst>
              </a:tr>
              <a:tr h="221118">
                <a:tc>
                  <a:txBody>
                    <a:bodyPr/>
                    <a:lstStyle/>
                    <a:p>
                      <a:pPr algn="l"/>
                      <a:r>
                        <a:rPr sz="950" b="0">
                          <a:latin typeface="Calibri"/>
                        </a:rPr>
                        <a:t>3-5 Nov 2026</a:t>
                      </a:r>
                    </a:p>
                  </a:txBody>
                  <a:tcPr/>
                </a:tc>
                <a:tc>
                  <a:txBody>
                    <a:bodyPr/>
                    <a:lstStyle/>
                    <a:p>
                      <a:pPr algn="l"/>
                      <a:r>
                        <a:rPr sz="950" b="0">
                          <a:latin typeface="Calibri"/>
                        </a:rPr>
                        <a:t>Project Expo</a:t>
                      </a:r>
                    </a:p>
                  </a:txBody>
                  <a:tcPr/>
                </a:tc>
                <a:tc>
                  <a:txBody>
                    <a:bodyPr/>
                    <a:lstStyle/>
                    <a:p>
                      <a:pPr algn="l"/>
                      <a:r>
                        <a:rPr sz="950" b="0" dirty="0">
                          <a:latin typeface="Calibri"/>
                        </a:rPr>
                        <a:t>Project Expo organized by Program</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9363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normAutofit/>
          </a:bodyPr>
          <a:lstStyle/>
          <a:p>
            <a:pPr algn="ctr"/>
            <a:r>
              <a:rPr lang="en-IN" sz="2400"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2"/>
            <a:ext cx="10515600" cy="4302950"/>
          </a:xfrm>
        </p:spPr>
        <p:txBody>
          <a:bodyPr>
            <a:normAutofit/>
          </a:bodyPr>
          <a:lstStyle/>
          <a:p>
            <a:pPr marL="0" lvl="0" indent="0" eaLnBrk="0" fontAlgn="base" hangingPunct="0">
              <a:lnSpc>
                <a:spcPct val="100000"/>
              </a:lnSpc>
              <a:spcBef>
                <a:spcPct val="0"/>
              </a:spcBef>
              <a:spcAft>
                <a:spcPct val="0"/>
              </a:spcAft>
              <a:buNone/>
            </a:pPr>
            <a:r>
              <a:rPr lang="en-IN" sz="1800" b="1" dirty="0">
                <a:latin typeface="Times New Roman" panose="02020603050405020304" pitchFamily="18" charset="0"/>
                <a:cs typeface="Times New Roman" panose="02020603050405020304" pitchFamily="18" charset="0"/>
              </a:rPr>
              <a:t>Summary:</a:t>
            </a:r>
          </a:p>
          <a:p>
            <a:pPr marL="0" lvl="0" indent="0" eaLnBrk="0" fontAlgn="base" hangingPunct="0">
              <a:lnSpc>
                <a:spcPct val="100000"/>
              </a:lnSpc>
              <a:spcBef>
                <a:spcPct val="0"/>
              </a:spcBef>
              <a:spcAft>
                <a:spcPct val="0"/>
              </a:spcAft>
              <a:buNone/>
            </a:pPr>
            <a:endParaRPr lang="en-IN" sz="1800" b="1"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800" dirty="0">
                <a:latin typeface="Times New Roman" panose="02020603050405020304" pitchFamily="18" charset="0"/>
                <a:cs typeface="Times New Roman" panose="02020603050405020304" pitchFamily="18" charset="0"/>
              </a:rPr>
              <a:t>This project proposes an Intelligent Supplier Risk Prediction and Analytics system using Data Science and Azure to identify vulnerable suppliers up to 90 days before a disruption, combining large-scale financial and news data.</a:t>
            </a:r>
          </a:p>
          <a:p>
            <a:pPr marL="0" lvl="1" indent="0" eaLnBrk="0" fontAlgn="base" hangingPunct="0">
              <a:lnSpc>
                <a:spcPct val="100000"/>
              </a:lnSpc>
              <a:spcBef>
                <a:spcPct val="0"/>
              </a:spcBef>
              <a:spcAft>
                <a:spcPct val="0"/>
              </a:spcAft>
              <a:buNone/>
            </a:pPr>
            <a:r>
              <a:rPr lang="en-IN" sz="1800" dirty="0">
                <a:latin typeface="Times New Roman" panose="02020603050405020304" pitchFamily="18" charset="0"/>
                <a:cs typeface="Times New Roman" panose="02020603050405020304" pitchFamily="18" charset="0"/>
              </a:rPr>
              <a:t>We reviewed 13 papers from 2020 onwards covering deep learning, machine learning, and LLM approaches to supply chain risk; none offers the combination of XGBoost financial risk modeling, FinBERT-LSTM news sentiment, Azure/PySpark scalability, and a Power BI interactive dashboard.</a:t>
            </a:r>
          </a:p>
          <a:p>
            <a:pPr marL="0" lvl="1" indent="0" eaLnBrk="0" fontAlgn="base" hangingPunct="0">
              <a:lnSpc>
                <a:spcPct val="100000"/>
              </a:lnSpc>
              <a:spcBef>
                <a:spcPct val="0"/>
              </a:spcBef>
              <a:spcAft>
                <a:spcPct val="0"/>
              </a:spcAft>
              <a:buNone/>
            </a:pPr>
            <a:endParaRPr lang="en-IN" sz="1800" b="1"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IN" sz="1800" b="1" dirty="0">
                <a:latin typeface="Times New Roman" panose="02020603050405020304" pitchFamily="18" charset="0"/>
                <a:cs typeface="Times New Roman" panose="02020603050405020304" pitchFamily="18" charset="0"/>
              </a:rPr>
              <a:t>Next steps for PRC-2:</a:t>
            </a:r>
          </a:p>
          <a:p>
            <a:pPr marL="0" lvl="1" indent="0" eaLnBrk="0" fontAlgn="base" hangingPunct="0">
              <a:lnSpc>
                <a:spcPct val="100000"/>
              </a:lnSpc>
              <a:spcBef>
                <a:spcPct val="0"/>
              </a:spcBef>
              <a:spcAft>
                <a:spcPct val="0"/>
              </a:spcAft>
              <a:buNone/>
            </a:pPr>
            <a:endParaRPr lang="en-IN" sz="18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800" dirty="0">
                <a:latin typeface="Times New Roman" panose="02020603050405020304" pitchFamily="18" charset="0"/>
                <a:cs typeface="Times New Roman" panose="02020603050405020304" pitchFamily="18" charset="0"/>
              </a:rPr>
              <a:t>Complete the Azure + PySpark data pipeline; train and calibrate the XGBoost financial risk model; build the FinBERT sentiment pipeline with 90-day sequences and LSTM modeling; combine outputs into low, medium and high risk tiers; and develop the Power BI supplier risk dashboard.</a:t>
            </a:r>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31941C-C503-4469-8755-454FE6062E3B}"/>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716463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pPr algn="ctr"/>
            <a:r>
              <a:rPr lang="en-IN"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5002923"/>
          </a:xfrm>
        </p:spPr>
        <p:txBody>
          <a:bodyPr>
            <a:noAutofit/>
          </a:bodyPr>
          <a:lstStyle/>
          <a:p>
            <a:r>
              <a:rPr lang="en-IN" sz="1200" dirty="0" err="1"/>
              <a:t>Rezki</a:t>
            </a:r>
            <a:r>
              <a:rPr lang="en-IN" sz="1200" dirty="0"/>
              <a:t>, N., &amp; Mansouri, M. (2024). Deep learning hybrid models for effective SCRM: mitigating uncertainty while enhancing demand prediction. </a:t>
            </a:r>
            <a:r>
              <a:rPr lang="en-IN" sz="1200" i="1" dirty="0"/>
              <a:t>Acta Logistica, 11</a:t>
            </a:r>
            <a:r>
              <a:rPr lang="en-IN" sz="1200" dirty="0"/>
              <a:t>(4), 589–604. doi:10.22306/al.v11i4.552</a:t>
            </a:r>
          </a:p>
          <a:p>
            <a:r>
              <a:rPr lang="en-IN" sz="1200" dirty="0"/>
              <a:t>Medina, A. (2026). Real-time supply chain risk prediction using enterprise resource planning data analytics. </a:t>
            </a:r>
            <a:r>
              <a:rPr lang="en-IN" sz="1200" i="1" dirty="0"/>
              <a:t>IJACSEAI, 3</a:t>
            </a:r>
            <a:r>
              <a:rPr lang="en-IN" sz="1200" dirty="0"/>
              <a:t>(1). ISSN 3143-438X.</a:t>
            </a:r>
          </a:p>
          <a:p>
            <a:r>
              <a:rPr lang="en-IN" sz="1200" dirty="0"/>
              <a:t>Hussein, N.J., &amp; Ali, A.M. (2025). Machine learning-driven predictive analytics for real-time supply chain risk management. </a:t>
            </a:r>
            <a:r>
              <a:rPr lang="en-IN" sz="1200" i="1" dirty="0"/>
              <a:t>Proc. 113th Int. Conf. on Applied Innovations in IT (ICAIIT).</a:t>
            </a:r>
            <a:endParaRPr lang="en-IN" sz="1200" dirty="0"/>
          </a:p>
          <a:p>
            <a:r>
              <a:rPr lang="en-IN" sz="1200" dirty="0"/>
              <a:t>Khan, M.R.I., Tahsin, M.S., Al Mamun, A., et al. (2025). Multimodal machine learning for proactive SCRM: an AI-driven framework integrating sensor, operational, and external intelligence. </a:t>
            </a:r>
            <a:r>
              <a:rPr lang="en-IN" sz="1200" i="1" dirty="0"/>
              <a:t>J. of Computer Science and Technology Studies.</a:t>
            </a:r>
            <a:endParaRPr lang="en-IN" sz="1200" dirty="0"/>
          </a:p>
          <a:p>
            <a:r>
              <a:rPr lang="en-IN" sz="1200" dirty="0"/>
              <a:t>Li, C., &amp; Chen, H. (2024). Machine learning based supply chain risk prediction and management. </a:t>
            </a:r>
            <a:r>
              <a:rPr lang="en-IN" sz="1200" i="1" dirty="0"/>
              <a:t>ICCSMT 2024, ACM.</a:t>
            </a:r>
            <a:r>
              <a:rPr lang="en-IN" sz="1200" dirty="0"/>
              <a:t> doi:10.1145/3708036.3708177</a:t>
            </a:r>
          </a:p>
          <a:p>
            <a:r>
              <a:rPr lang="en-IN" sz="1200" dirty="0" err="1"/>
              <a:t>Vankayalapati</a:t>
            </a:r>
            <a:r>
              <a:rPr lang="en-IN" sz="1200" dirty="0"/>
              <a:t>, R.H., &amp; Banerjee, A. (2026). A systematic review on applications of deep learning in SCRM. </a:t>
            </a:r>
            <a:r>
              <a:rPr lang="en-IN" sz="1200" i="1" dirty="0"/>
              <a:t>Operations Research Forum, 7</a:t>
            </a:r>
            <a:r>
              <a:rPr lang="en-IN" sz="1200" dirty="0"/>
              <a:t>, 94. doi:10.1007/s43069-026-00682-7</a:t>
            </a:r>
          </a:p>
          <a:p>
            <a:r>
              <a:rPr lang="en-IN" sz="1200" dirty="0"/>
              <a:t>Hasan, M.R., Rahman, M.A., Gomes, C.A.H., et al. (2025). Building robust AI and ML models for supplier risk management: a data-driven strategy for SC resilience in the USA. </a:t>
            </a:r>
            <a:r>
              <a:rPr lang="en-IN" sz="1200" i="1" dirty="0"/>
              <a:t>Advances in Consumer Research, 2</a:t>
            </a:r>
            <a:r>
              <a:rPr lang="en-IN" sz="1200" dirty="0"/>
              <a:t>(4).</a:t>
            </a:r>
          </a:p>
          <a:p>
            <a:r>
              <a:rPr lang="en-IN" sz="1200" dirty="0"/>
              <a:t>Pandey, A. (2026). Cognitive Supplier Risk Intelligence (CSRI): a hybrid </a:t>
            </a:r>
            <a:r>
              <a:rPr lang="en-IN" sz="1200" dirty="0" err="1"/>
              <a:t>XGBoost</a:t>
            </a:r>
            <a:r>
              <a:rPr lang="en-IN" sz="1200" dirty="0"/>
              <a:t>-LSTM framework for calibrated supplier disruption scoring in EV procurement. </a:t>
            </a:r>
            <a:r>
              <a:rPr lang="en-IN" sz="1200" i="1" dirty="0"/>
              <a:t>SSRN Working Paper 6671438.</a:t>
            </a:r>
            <a:endParaRPr lang="en-IN" sz="1200" dirty="0"/>
          </a:p>
          <a:p>
            <a:r>
              <a:rPr lang="en-IN" sz="1200" dirty="0" err="1"/>
              <a:t>Sadeek</a:t>
            </a:r>
            <a:r>
              <a:rPr lang="en-IN" sz="1200" dirty="0"/>
              <a:t>, S.N., &amp; Hanaoka, S. (2023). Assessment of text-generated supply chain risks considering news and social media during disruptive events. </a:t>
            </a:r>
            <a:r>
              <a:rPr lang="en-IN" sz="1200" i="1" dirty="0"/>
              <a:t>Social Network Analysis and Mining, 13</a:t>
            </a:r>
            <a:r>
              <a:rPr lang="en-IN" sz="1200" dirty="0"/>
              <a:t>, 96. doi:10.1007/s13278-023-01100-0</a:t>
            </a:r>
          </a:p>
          <a:p>
            <a:r>
              <a:rPr lang="en-IN" sz="1200" dirty="0"/>
              <a:t>Li, J.F., Li, W., Wei, X., &amp; Xu, W. (2025). Supply chain risk measurement and resilience: insights from large language models. </a:t>
            </a:r>
            <a:r>
              <a:rPr lang="en-IN" sz="1200" i="1" dirty="0"/>
              <a:t>SSRN Working Paper 5072995.</a:t>
            </a:r>
            <a:endParaRPr lang="en-IN" sz="1200" dirty="0"/>
          </a:p>
          <a:p>
            <a:r>
              <a:rPr lang="en-IN" sz="1200" dirty="0"/>
              <a:t>Shahsavari, M., Hussain, O.K., Saberi, M., &amp; Sharma, P. (2024). Event identification for SCRM through news analysis using large language models. </a:t>
            </a:r>
            <a:r>
              <a:rPr lang="en-IN" sz="1200" i="1" dirty="0"/>
              <a:t>Review of </a:t>
            </a:r>
            <a:r>
              <a:rPr lang="en-IN" sz="1200" i="1" dirty="0" err="1"/>
              <a:t>Socionetwork</a:t>
            </a:r>
            <a:r>
              <a:rPr lang="en-IN" sz="1200" i="1" dirty="0"/>
              <a:t> Strategies, 18</a:t>
            </a:r>
            <a:r>
              <a:rPr lang="en-IN" sz="1200" dirty="0"/>
              <a:t>, 255–278. doi:10.1007/s12626-024-00169-z</a:t>
            </a:r>
          </a:p>
          <a:p>
            <a:r>
              <a:rPr lang="en-IN" sz="1200" dirty="0"/>
              <a:t>Zhao, M., Hussain, O., Zhang, Y., Saberi, M., &amp; </a:t>
            </a:r>
            <a:r>
              <a:rPr lang="en-IN" sz="1200" dirty="0" err="1"/>
              <a:t>Leshob</a:t>
            </a:r>
            <a:r>
              <a:rPr lang="en-IN" sz="1200" dirty="0"/>
              <a:t>, A. (2025). Benchmarking large language models for supply chain risk identification: an extended evaluation within the LARD-SC framework. </a:t>
            </a:r>
            <a:r>
              <a:rPr lang="en-IN" sz="1200" i="1" dirty="0"/>
              <a:t>Service Oriented Computing and Applications.</a:t>
            </a:r>
            <a:r>
              <a:rPr lang="en-IN" sz="1200" dirty="0"/>
              <a:t> doi:10.1007/s11761-025-00474-7</a:t>
            </a:r>
          </a:p>
          <a:p>
            <a:pPr marL="0" lvl="0" indent="0" eaLnBrk="0" fontAlgn="base" hangingPunct="0">
              <a:lnSpc>
                <a:spcPct val="100000"/>
              </a:lnSpc>
              <a:spcBef>
                <a:spcPct val="0"/>
              </a:spcBef>
              <a:spcAft>
                <a:spcPct val="0"/>
              </a:spcAft>
              <a:buNone/>
            </a:pPr>
            <a:endParaRPr lang="en-IN" sz="12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09-09-2026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13</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1" name="Footer Placeholder 2">
            <a:extLst>
              <a:ext uri="{FF2B5EF4-FFF2-40B4-BE49-F238E27FC236}">
                <a16:creationId xmlns:a16="http://schemas.microsoft.com/office/drawing/2014/main" id="{2D22C802-FAC0-4996-9438-F4455D720586}"/>
              </a:ext>
            </a:extLst>
          </p:cNvPr>
          <p:cNvSpPr>
            <a:spLocks noGrp="1"/>
          </p:cNvSpPr>
          <p:nvPr>
            <p:ph type="ftr" sz="quarter" idx="11"/>
          </p:nvPr>
        </p:nvSpPr>
        <p:spPr>
          <a:xfrm>
            <a:off x="4038600" y="6356350"/>
            <a:ext cx="4114800" cy="365125"/>
          </a:xfrm>
        </p:spPr>
        <p:txBody>
          <a:bodyPr/>
          <a:lstStyle/>
          <a:p>
            <a:r>
              <a:rPr lang="en-US" dirty="0"/>
              <a:t>PRC-I    </a:t>
            </a:r>
          </a:p>
        </p:txBody>
      </p:sp>
    </p:spTree>
    <p:extLst>
      <p:ext uri="{BB962C8B-B14F-4D97-AF65-F5344CB8AC3E}">
        <p14:creationId xmlns:p14="http://schemas.microsoft.com/office/powerpoint/2010/main" val="2116982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None/>
            </a:pPr>
            <a:r>
              <a:rPr lang="en-IN" sz="2400" b="1" dirty="0">
                <a:latin typeface="Times New Roman" panose="02020603050405020304" pitchFamily="18" charset="0"/>
                <a:cs typeface="Times New Roman" panose="02020603050405020304" pitchFamily="18" charset="0"/>
              </a:rPr>
              <a:t>Datasets and Tools:</a:t>
            </a:r>
            <a:br>
              <a:rPr lang="en-IN" sz="1600" b="1" dirty="0">
                <a:latin typeface="Times New Roman" panose="02020603050405020304" pitchFamily="18" charset="0"/>
                <a:cs typeface="Times New Roman" panose="02020603050405020304" pitchFamily="18" charset="0"/>
              </a:rPr>
            </a:br>
            <a:br>
              <a:rPr lang="en-IN" sz="1600" b="1" dirty="0">
                <a:latin typeface="Times New Roman" panose="02020603050405020304" pitchFamily="18" charset="0"/>
                <a:cs typeface="Times New Roman" panose="02020603050405020304" pitchFamily="18" charset="0"/>
              </a:rPr>
            </a:br>
            <a:endParaRPr lang="en-IN" sz="1600" b="1"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a:latin typeface="Times New Roman" panose="02020603050405020304" pitchFamily="18" charset="0"/>
                <a:cs typeface="Times New Roman" panose="02020603050405020304" pitchFamily="18" charset="0"/>
              </a:rPr>
              <a:t>Microsoft Azure - cloud storage, compute and data services for big-data processing</a:t>
            </a:r>
          </a:p>
          <a:p>
            <a:pPr marL="0" lvl="1" indent="0" eaLnBrk="0" fontAlgn="base" hangingPunct="0">
              <a:lnSpc>
                <a:spcPct val="100000"/>
              </a:lnSpc>
              <a:spcBef>
                <a:spcPct val="0"/>
              </a:spcBef>
              <a:spcAft>
                <a:spcPct val="0"/>
              </a:spcAft>
              <a:buNone/>
            </a:pPr>
            <a:endParaRPr lang="en-IN" sz="14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a:latin typeface="Times New Roman" panose="02020603050405020304" pitchFamily="18" charset="0"/>
                <a:cs typeface="Times New Roman" panose="02020603050405020304" pitchFamily="18" charset="0"/>
              </a:rPr>
              <a:t>Apache Spark / </a:t>
            </a:r>
            <a:r>
              <a:rPr lang="en-IN" sz="1400" dirty="0" err="1">
                <a:latin typeface="Times New Roman" panose="02020603050405020304" pitchFamily="18" charset="0"/>
                <a:cs typeface="Times New Roman" panose="02020603050405020304" pitchFamily="18" charset="0"/>
              </a:rPr>
              <a:t>PySpark</a:t>
            </a:r>
            <a:r>
              <a:rPr lang="en-IN" sz="1400" dirty="0">
                <a:latin typeface="Times New Roman" panose="02020603050405020304" pitchFamily="18" charset="0"/>
                <a:cs typeface="Times New Roman" panose="02020603050405020304" pitchFamily="18" charset="0"/>
              </a:rPr>
              <a:t> - large-scale cleaning and transformation of supplier data</a:t>
            </a:r>
          </a:p>
          <a:p>
            <a:pPr marL="0" lvl="1" indent="0" eaLnBrk="0" fontAlgn="base" hangingPunct="0">
              <a:lnSpc>
                <a:spcPct val="100000"/>
              </a:lnSpc>
              <a:spcBef>
                <a:spcPct val="0"/>
              </a:spcBef>
              <a:spcAft>
                <a:spcPct val="0"/>
              </a:spcAft>
              <a:buNone/>
            </a:pPr>
            <a:endParaRPr lang="en-IN" sz="14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err="1">
                <a:latin typeface="Times New Roman" panose="02020603050405020304" pitchFamily="18" charset="0"/>
                <a:cs typeface="Times New Roman" panose="02020603050405020304" pitchFamily="18" charset="0"/>
              </a:rPr>
              <a:t>XGBoost</a:t>
            </a:r>
            <a:r>
              <a:rPr lang="en-IN" sz="1400" dirty="0">
                <a:latin typeface="Times New Roman" panose="02020603050405020304" pitchFamily="18" charset="0"/>
                <a:cs typeface="Times New Roman" panose="02020603050405020304" pitchFamily="18" charset="0"/>
              </a:rPr>
              <a:t> - financial risk prediction (revenue, debt, leverage, current ratio, stability)</a:t>
            </a:r>
          </a:p>
          <a:p>
            <a:pPr marL="0" lvl="1" indent="0" eaLnBrk="0" fontAlgn="base" hangingPunct="0">
              <a:lnSpc>
                <a:spcPct val="100000"/>
              </a:lnSpc>
              <a:spcBef>
                <a:spcPct val="0"/>
              </a:spcBef>
              <a:spcAft>
                <a:spcPct val="0"/>
              </a:spcAft>
              <a:buNone/>
            </a:pPr>
            <a:endParaRPr lang="en-IN" sz="14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err="1">
                <a:latin typeface="Times New Roman" panose="02020603050405020304" pitchFamily="18" charset="0"/>
                <a:cs typeface="Times New Roman" panose="02020603050405020304" pitchFamily="18" charset="0"/>
              </a:rPr>
              <a:t>FinBERT</a:t>
            </a:r>
            <a:r>
              <a:rPr lang="en-IN" sz="1400" dirty="0">
                <a:latin typeface="Times New Roman" panose="02020603050405020304" pitchFamily="18" charset="0"/>
                <a:cs typeface="Times New Roman" panose="02020603050405020304" pitchFamily="18" charset="0"/>
              </a:rPr>
              <a:t> - financial news sentiment analysis (positive, negative, neutral)</a:t>
            </a:r>
          </a:p>
          <a:p>
            <a:pPr marL="0" lvl="1" indent="0" eaLnBrk="0" fontAlgn="base" hangingPunct="0">
              <a:lnSpc>
                <a:spcPct val="100000"/>
              </a:lnSpc>
              <a:spcBef>
                <a:spcPct val="0"/>
              </a:spcBef>
              <a:spcAft>
                <a:spcPct val="0"/>
              </a:spcAft>
              <a:buNone/>
            </a:pPr>
            <a:endParaRPr lang="en-IN" sz="14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a:latin typeface="Times New Roman" panose="02020603050405020304" pitchFamily="18" charset="0"/>
                <a:cs typeface="Times New Roman" panose="02020603050405020304" pitchFamily="18" charset="0"/>
              </a:rPr>
              <a:t>LSTM - 90-day sequence </a:t>
            </a:r>
            <a:r>
              <a:rPr lang="en-IN" sz="1400" dirty="0" err="1">
                <a:latin typeface="Times New Roman" panose="02020603050405020304" pitchFamily="18" charset="0"/>
                <a:cs typeface="Times New Roman" panose="02020603050405020304" pitchFamily="18" charset="0"/>
              </a:rPr>
              <a:t>modeling</a:t>
            </a:r>
            <a:r>
              <a:rPr lang="en-IN" sz="1400" dirty="0">
                <a:latin typeface="Times New Roman" panose="02020603050405020304" pitchFamily="18" charset="0"/>
                <a:cs typeface="Times New Roman" panose="02020603050405020304" pitchFamily="18" charset="0"/>
              </a:rPr>
              <a:t> of changing risk patterns</a:t>
            </a:r>
          </a:p>
          <a:p>
            <a:pPr marL="0" lvl="1" indent="0" eaLnBrk="0" fontAlgn="base" hangingPunct="0">
              <a:lnSpc>
                <a:spcPct val="100000"/>
              </a:lnSpc>
              <a:spcBef>
                <a:spcPct val="0"/>
              </a:spcBef>
              <a:spcAft>
                <a:spcPct val="0"/>
              </a:spcAft>
              <a:buNone/>
            </a:pPr>
            <a:endParaRPr lang="en-IN" sz="1400" dirty="0">
              <a:latin typeface="Times New Roman" panose="02020603050405020304" pitchFamily="18" charset="0"/>
              <a:cs typeface="Times New Roman" panose="02020603050405020304" pitchFamily="18" charset="0"/>
            </a:endParaRPr>
          </a:p>
          <a:p>
            <a:pPr marL="0" lvl="1" indent="0" eaLnBrk="0" fontAlgn="base" hangingPunct="0">
              <a:lnSpc>
                <a:spcPct val="100000"/>
              </a:lnSpc>
              <a:spcBef>
                <a:spcPct val="0"/>
              </a:spcBef>
              <a:spcAft>
                <a:spcPct val="0"/>
              </a:spcAft>
              <a:buNone/>
            </a:pPr>
            <a:r>
              <a:rPr lang="en-IN" sz="1400" dirty="0">
                <a:latin typeface="Times New Roman" panose="02020603050405020304" pitchFamily="18" charset="0"/>
                <a:cs typeface="Times New Roman" panose="02020603050405020304" pitchFamily="18" charset="0"/>
              </a:rPr>
              <a:t>Power BI - interactive supplier risk dashboard (risk levels, sentiment, trends)</a:t>
            </a:r>
          </a:p>
        </p:txBody>
      </p:sp>
      <p:sp>
        <p:nvSpPr>
          <p:cNvPr id="4" name="Date Placeholder 3"/>
          <p:cNvSpPr>
            <a:spLocks noGrp="1"/>
          </p:cNvSpPr>
          <p:nvPr>
            <p:ph type="dt" sz="half" idx="10"/>
          </p:nvPr>
        </p:nvSpPr>
        <p:spPr/>
        <p:txBody>
          <a:bodyPr/>
          <a:lstStyle/>
          <a:p>
            <a:fld id="{C7A4DE8B-8D6B-8C46-B882-6A2CD2BC96F0}" type="datetime1">
              <a:rPr lang="en-IN" smtClean="0"/>
              <a:t>09-09-2026</a:t>
            </a:fld>
            <a:endParaRPr lang="en-US"/>
          </a:p>
        </p:txBody>
      </p:sp>
      <p:sp>
        <p:nvSpPr>
          <p:cNvPr id="5" name="Footer Placeholder 4"/>
          <p:cNvSpPr>
            <a:spLocks noGrp="1"/>
          </p:cNvSpPr>
          <p:nvPr>
            <p:ph type="ftr" sz="quarter" idx="11"/>
          </p:nvPr>
        </p:nvSpPr>
        <p:spPr/>
        <p:txBody>
          <a:bodyPr/>
          <a:lstStyle/>
          <a:p>
            <a:r>
              <a:rPr lang="en-US"/>
              <a:t>REVIEW – 1    Department of CSE</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t>14</a:t>
            </a:fld>
            <a:endParaRPr lang="en-US"/>
          </a:p>
        </p:txBody>
      </p:sp>
    </p:spTree>
    <p:extLst>
      <p:ext uri="{BB962C8B-B14F-4D97-AF65-F5344CB8AC3E}">
        <p14:creationId xmlns:p14="http://schemas.microsoft.com/office/powerpoint/2010/main" val="18174205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09-09-2026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15</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8" name="Footer Placeholder 2">
            <a:extLst>
              <a:ext uri="{FF2B5EF4-FFF2-40B4-BE49-F238E27FC236}">
                <a16:creationId xmlns:a16="http://schemas.microsoft.com/office/drawing/2014/main" id="{410A2BD5-B048-435C-9BAE-2FCD927007A1}"/>
              </a:ext>
            </a:extLst>
          </p:cNvPr>
          <p:cNvSpPr>
            <a:spLocks noGrp="1"/>
          </p:cNvSpPr>
          <p:nvPr>
            <p:ph type="ftr" sz="quarter" idx="11"/>
          </p:nvPr>
        </p:nvSpPr>
        <p:spPr>
          <a:xfrm>
            <a:off x="4038600" y="6356350"/>
            <a:ext cx="4114800" cy="365125"/>
          </a:xfrm>
        </p:spPr>
        <p:txBody>
          <a:bodyPr/>
          <a:lstStyle/>
          <a:p>
            <a:r>
              <a:rPr lang="en-US" dirty="0"/>
              <a:t>PRC-I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650</TotalTime>
  <Words>3067</Words>
  <Application>Microsoft Office PowerPoint</Application>
  <PresentationFormat>Widescreen</PresentationFormat>
  <Paragraphs>390</Paragraphs>
  <Slides>15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Calibri Light</vt:lpstr>
      <vt:lpstr>Times New Roman</vt:lpstr>
      <vt:lpstr>Office Theme</vt:lpstr>
      <vt:lpstr>Custom Design</vt:lpstr>
      <vt:lpstr>ENGINEERING CAPSTONE PROJECT – 1/INDUSTRIAL INTERNSHIP/ INDUSTRIAL INTERNSHIP PHASE-I Project Review-1  INTELLIGENT SUPPLIER RISK PREDICTION AND ANALYTICS USING DATA SCIENCE AND AZURE</vt:lpstr>
      <vt:lpstr>OUTLINE</vt:lpstr>
      <vt:lpstr>Introduction</vt:lpstr>
      <vt:lpstr>Problem Statement</vt:lpstr>
      <vt:lpstr>Objectives </vt:lpstr>
      <vt:lpstr>Literature Survey (1 of 3)</vt:lpstr>
      <vt:lpstr>Literature Survey (2 of 3)</vt:lpstr>
      <vt:lpstr>Literature Survey (3 of 3)</vt:lpstr>
      <vt:lpstr>Research Gap Identification</vt:lpstr>
      <vt:lpstr>Innovation, Creativity, and Novelty</vt:lpstr>
      <vt:lpstr>Feasibility and Project Plan</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Gullapalli Sheetal</cp:lastModifiedBy>
  <cp:revision>206</cp:revision>
  <cp:lastPrinted>2025-06-24T13:51:00Z</cp:lastPrinted>
  <dcterms:created xsi:type="dcterms:W3CDTF">2022-05-20T10:20:00Z</dcterms:created>
  <dcterms:modified xsi:type="dcterms:W3CDTF">2026-09-09T14:21:23Z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8501A877F9FA4B8DAC5FC0ABD71A7E4E_12</vt:lpwstr>
  </property>
  <property fmtid="{D5CDD505-2E9C-101B-9397-08002B2CF9AE}" pid="3" name="KSOProductBuildVer">
    <vt:lpwstr>1033-12.2.0.23196</vt:lpwstr>
  </property>
</Properties>
</file>